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we are presenting our DBMS micro-project: the ISP Management System, Oracle Edition. Modern Internet Service Providers face four critical database challenges: automated multi-tier billing, payment race conditions, managing the entire subscriber-to-technician lifecycle, and non-negotiable financial compliance. In this presentation, we demonstrate how Oracle 23ai and enterprise database patterns solve each of these problems reliably.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system architecture. It follows a clean 3-layer enterprise pattern. At the top is a JavaFX 21 desktop application running non-blocking background workers so the interface never freezes. In the middle, we intentionally chose Pure JDBC over heavy ORM frameworks to give us explicit control over SQL transactions and stored procedure calls. At the foundation is Oracle Database 23ai Free, encapsulating data integrity in the database engine.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shows our database schema. For those new to DBMS terminology, 3NF means Third Normal Form—every piece of data is stored in exactly one place so there is no duplicate data. We organized all 17 tables into four clear business clusters: Customers, Plans, Billing, and Operations. Notice the composite index idx_inv_status_due: by indexing both status and due date together, the database instantly finds overdue accounts without scanning millions of records. We also created 6 dedicated views to power the dashboard and analytics tab without complex joins in UI code.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4, we examine PKG_BILLING, our PL/SQL package. A critical concept here is pessimistic locking using FOR UPDATE NOWAIT. If two users or payment gateways attempt to pay the exact same invoice at the same second, Oracle locks the row for the first transaction, preventing duplicate credits or dirty reads. The package also automates monthly batch invoice generation with 18% GST and automatically suspends accounts overdue past 30 days.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covers an advanced Oracle concept: the mutating-table error, or ORA-04091. In plain English, if a trigger tries to read a table while that same table is still being updated, Oracle stops it—just like you cannot safely work on an engine while the car is moving. We solved this using a Compound Trigger: during the row phase, we only record changed IDs into memory; then in AFTER STATEMENT, we safely update the table without conflict. We also implemented automated audit triggers that capture before and after data as JSON snapshots for financial non-repudiation.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presents our security model and desktop client engineering. RBAC stands for Role-Based Access Control: an employee only sees the screens their role permits. For example, a technician cannot touch financial invoices, and a support agent cannot edit network plans. User passwords are protected with jBCrypt at cost factor 12. On the frontend, all database communication runs on asynchronous background threads, ensuring the desktop application never stutters or freezes during heavy database operations.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our testing validated all 17 tables, PL/SQL packages, and compound triggers with zero errors. We proved that concurrent payments are safely handled without deadlocks, and soft-deletes preserve historical audit records. Looking forward, this database foundation can seamlessly support a customer-facing web portal, SNMP network monitoring, and online payment gateways. Thank you for your time, and we are now open for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5029200" cy="365760"/>
          </a:xfrm>
          <a:prstGeom prst="rect">
            <a:avLst/>
          </a:prstGeom>
          <a:noFill/>
        </p:spPr>
        <p:txBody>
          <a:bodyPr wrap="none" lIns="0" tIns="0">
            <a:spAutoFit/>
          </a:bodyPr>
          <a:lstStyle/>
          <a:p>
            <a:pPr>
              <a:defRPr sz="1100" b="1">
                <a:solidFill>
                  <a:srgbClr val="0EA5E9"/>
                </a:solidFill>
                <a:latin typeface="Segoe UI"/>
              </a:defRPr>
            </a:pPr>
            <a:r>
              <a:t>ACADEMIC DBMS MICRO-PROJECT | ORACLE 23ai</a:t>
            </a:r>
          </a:p>
        </p:txBody>
      </p:sp>
      <p:sp>
        <p:nvSpPr>
          <p:cNvPr id="4" name="TextBox 3"/>
          <p:cNvSpPr txBox="1"/>
          <p:nvPr/>
        </p:nvSpPr>
        <p:spPr>
          <a:xfrm>
            <a:off x="731520" y="1188720"/>
            <a:ext cx="5029200" cy="2011680"/>
          </a:xfrm>
          <a:prstGeom prst="rect">
            <a:avLst/>
          </a:prstGeom>
          <a:noFill/>
        </p:spPr>
        <p:txBody>
          <a:bodyPr wrap="square" lIns="0" tIns="0">
            <a:spAutoFit/>
          </a:bodyPr>
          <a:lstStyle/>
          <a:p>
            <a:pPr>
              <a:defRPr sz="3600" b="1">
                <a:solidFill>
                  <a:srgbClr val="F1F5F9"/>
                </a:solidFill>
                <a:latin typeface="Segoe UI"/>
              </a:defRPr>
            </a:pPr>
            <a:r>
              <a:t>ISP Management System</a:t>
            </a:r>
          </a:p>
          <a:p>
            <a:pPr>
              <a:defRPr sz="2200" b="1">
                <a:solidFill>
                  <a:srgbClr val="0EA5E9"/>
                </a:solidFill>
                <a:latin typeface="Segoe UI"/>
              </a:defRPr>
            </a:pPr>
            <a:r>
              <a:t>Oracle Edition ("ISP Orbit")</a:t>
            </a:r>
          </a:p>
          <a:p>
            <a:pPr>
              <a:spcBef>
                <a:spcPts val="1400"/>
              </a:spcBef>
              <a:defRPr sz="1500">
                <a:solidFill>
                  <a:srgbClr val="94A3B8"/>
                </a:solidFill>
                <a:latin typeface="Segoe UI"/>
              </a:defRPr>
            </a:pPr>
            <a:r>
              <a:t>A full-lifecycle telecom enterprise engine built with Oracle 23ai Free, PL/SQL packages, Pure JDBC, and JavaFX 21.</a:t>
            </a:r>
          </a:p>
        </p:txBody>
      </p:sp>
      <p:sp>
        <p:nvSpPr>
          <p:cNvPr id="5" name="Rounded Rectangle 4"/>
          <p:cNvSpPr/>
          <p:nvPr/>
        </p:nvSpPr>
        <p:spPr>
          <a:xfrm>
            <a:off x="731520" y="3931920"/>
            <a:ext cx="4846320" cy="16459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defRPr sz="1400" b="1">
                <a:solidFill>
                  <a:srgbClr val="F1F5F9"/>
                </a:solidFill>
                <a:latin typeface="Segoe UI"/>
              </a:defRPr>
            </a:pPr>
            <a:r>
              <a:t>Presented by: Student Engineering Team</a:t>
            </a:r>
          </a:p>
          <a:p>
            <a:pPr>
              <a:defRPr sz="1300">
                <a:solidFill>
                  <a:srgbClr val="94A3B8"/>
                </a:solidFill>
                <a:latin typeface="Segoe UI"/>
              </a:defRPr>
            </a:pPr>
            <a:r>
              <a:t>Course: Database Management Systems (CS-301)</a:t>
            </a:r>
          </a:p>
          <a:p>
            <a:pPr>
              <a:defRPr sz="1300">
                <a:solidFill>
                  <a:srgbClr val="0EA5E9"/>
                </a:solidFill>
                <a:latin typeface="Segoe UI"/>
              </a:defRPr>
            </a:pPr>
            <a:r>
              <a:t>Target DB: Oracle Database 23ai Free (PDB: FREEPDB1)</a:t>
            </a:r>
          </a:p>
        </p:txBody>
      </p:sp>
      <p:sp>
        <p:nvSpPr>
          <p:cNvPr id="6" name="TextBox 5"/>
          <p:cNvSpPr txBox="1"/>
          <p:nvPr/>
        </p:nvSpPr>
        <p:spPr>
          <a:xfrm>
            <a:off x="6035040" y="731520"/>
            <a:ext cx="5486400" cy="365760"/>
          </a:xfrm>
          <a:prstGeom prst="rect">
            <a:avLst/>
          </a:prstGeom>
          <a:noFill/>
        </p:spPr>
        <p:txBody>
          <a:bodyPr wrap="none" lIns="0" tIns="0">
            <a:spAutoFit/>
          </a:bodyPr>
          <a:lstStyle/>
          <a:p>
            <a:pPr>
              <a:defRPr sz="1200" b="1">
                <a:solidFill>
                  <a:srgbClr val="0EA5E9"/>
                </a:solidFill>
                <a:latin typeface="Segoe UI"/>
              </a:defRPr>
            </a:pPr>
            <a:r>
              <a:t>THE 4 REAL-WORLD TELECOM CHALLENGES WE SOLVE</a:t>
            </a:r>
          </a:p>
        </p:txBody>
      </p:sp>
      <p:sp>
        <p:nvSpPr>
          <p:cNvPr id="7" name="Rounded Rectangle 6"/>
          <p:cNvSpPr/>
          <p:nvPr/>
        </p:nvSpPr>
        <p:spPr>
          <a:xfrm>
            <a:off x="6035040" y="1234440"/>
            <a:ext cx="5394960" cy="10515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defRPr sz="1400" b="1">
                <a:solidFill>
                  <a:srgbClr val="F1F5F9"/>
                </a:solidFill>
                <a:latin typeface="Segoe UI"/>
              </a:defRPr>
            </a:pPr>
            <a:r>
              <a:t>1. Multi-Tier Recurring Billing</a:t>
            </a:r>
          </a:p>
          <a:p>
            <a:pPr>
              <a:defRPr sz="1200">
                <a:solidFill>
                  <a:srgbClr val="94A3B8"/>
                </a:solidFill>
                <a:latin typeface="Segoe UI"/>
              </a:defRPr>
            </a:pPr>
            <a:r>
              <a:t>Automates complex monthly cycles, data cap tiers, and 18% GST tax calculation without human error.</a:t>
            </a:r>
          </a:p>
        </p:txBody>
      </p:sp>
      <p:sp>
        <p:nvSpPr>
          <p:cNvPr id="8" name="Rounded Rectangle 7"/>
          <p:cNvSpPr/>
          <p:nvPr/>
        </p:nvSpPr>
        <p:spPr>
          <a:xfrm>
            <a:off x="6035040" y="2423160"/>
            <a:ext cx="5394960" cy="10515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defRPr sz="1400" b="1">
                <a:solidFill>
                  <a:srgbClr val="F1F5F9"/>
                </a:solidFill>
                <a:latin typeface="Segoe UI"/>
              </a:defRPr>
            </a:pPr>
            <a:r>
              <a:t>2. Concurrent Payment Race Conditions</a:t>
            </a:r>
          </a:p>
          <a:p>
            <a:pPr>
              <a:defRPr sz="1200">
                <a:solidFill>
                  <a:srgbClr val="94A3B8"/>
                </a:solidFill>
                <a:latin typeface="Segoe UI"/>
              </a:defRPr>
            </a:pPr>
            <a:r>
              <a:t>Eliminates double-credits and dirty reads when simultaneous payments hit the same invoice.</a:t>
            </a:r>
          </a:p>
        </p:txBody>
      </p:sp>
      <p:sp>
        <p:nvSpPr>
          <p:cNvPr id="9" name="Rounded Rectangle 8"/>
          <p:cNvSpPr/>
          <p:nvPr/>
        </p:nvSpPr>
        <p:spPr>
          <a:xfrm>
            <a:off x="6035040" y="3611880"/>
            <a:ext cx="5394960" cy="10515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defRPr sz="1400" b="1">
                <a:solidFill>
                  <a:srgbClr val="F1F5F9"/>
                </a:solidFill>
                <a:latin typeface="Segoe UI"/>
              </a:defRPr>
            </a:pPr>
            <a:r>
              <a:t>3. Fragmented Telecom Lifecycle</a:t>
            </a:r>
          </a:p>
          <a:p>
            <a:pPr>
              <a:defRPr sz="1200">
                <a:solidFill>
                  <a:srgbClr val="94A3B8"/>
                </a:solidFill>
                <a:latin typeface="Segoe UI"/>
              </a:defRPr>
            </a:pPr>
            <a:r>
              <a:t>Bridges customer onboarding, router hardware assignment, technician dispatch, and support tickets.</a:t>
            </a:r>
          </a:p>
        </p:txBody>
      </p:sp>
      <p:sp>
        <p:nvSpPr>
          <p:cNvPr id="10" name="Rounded Rectangle 9"/>
          <p:cNvSpPr/>
          <p:nvPr/>
        </p:nvSpPr>
        <p:spPr>
          <a:xfrm>
            <a:off x="6035040" y="4800600"/>
            <a:ext cx="5394960" cy="10515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a:lstStyle/>
          <a:p>
            <a:pPr algn="ctr">
              <a:defRPr sz="1400" b="1">
                <a:solidFill>
                  <a:srgbClr val="F1F5F9"/>
                </a:solidFill>
                <a:latin typeface="Segoe UI"/>
              </a:defRPr>
            </a:pPr>
            <a:r>
              <a:t>4. Compliance &amp; Audit Trails</a:t>
            </a:r>
          </a:p>
          <a:p>
            <a:pPr>
              <a:defRPr sz="1200">
                <a:solidFill>
                  <a:srgbClr val="94A3B8"/>
                </a:solidFill>
                <a:latin typeface="Segoe UI"/>
              </a:defRPr>
            </a:pPr>
            <a:r>
              <a:t>Tracks immutable historical changes with pre/post JSON snapshots for financial non-repudiation.</a:t>
            </a:r>
          </a:p>
        </p:txBody>
      </p:sp>
      <p:sp>
        <p:nvSpPr>
          <p:cNvPr id="11" name="Rectangle 10"/>
          <p:cNvSpPr/>
          <p:nvPr/>
        </p:nvSpPr>
        <p:spPr>
          <a:xfrm>
            <a:off x="731520" y="6217920"/>
            <a:ext cx="10728655"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6291072"/>
            <a:ext cx="9601200" cy="365760"/>
          </a:xfrm>
          <a:prstGeom prst="rect">
            <a:avLst/>
          </a:prstGeom>
          <a:noFill/>
        </p:spPr>
        <p:txBody>
          <a:bodyPr wrap="square" lIns="0" rIns="0" tIns="0" bIns="0">
            <a:spAutoFit/>
          </a:bodyPr>
          <a:lstStyle/>
          <a:p>
            <a:r>
              <a:rPr b="1" sz="1300">
                <a:solidFill>
                  <a:srgbClr val="0EA5E9"/>
                </a:solidFill>
                <a:latin typeface="Segoe UI"/>
              </a:rPr>
              <a:t>KEY TAKEAWAY: </a:t>
            </a:r>
            <a:r>
              <a:rPr b="0" sz="1300">
                <a:solidFill>
                  <a:srgbClr val="94A3B8"/>
                </a:solidFill>
                <a:latin typeface="Segoe UI"/>
              </a:rPr>
              <a:t>Connects business operational workflows directly to database transaction guarantees.</a:t>
            </a:r>
          </a:p>
        </p:txBody>
      </p:sp>
      <p:sp>
        <p:nvSpPr>
          <p:cNvPr id="13" name="TextBox 12"/>
          <p:cNvSpPr txBox="1"/>
          <p:nvPr/>
        </p:nvSpPr>
        <p:spPr>
          <a:xfrm>
            <a:off x="10515600" y="6291072"/>
            <a:ext cx="914400" cy="365760"/>
          </a:xfrm>
          <a:prstGeom prst="rect">
            <a:avLst/>
          </a:prstGeom>
          <a:noFill/>
        </p:spPr>
        <p:txBody>
          <a:bodyPr wrap="none" lIns="0" rIns="0" tIns="0" bIns="0">
            <a:spAutoFit/>
          </a:bodyPr>
          <a:lstStyle/>
          <a:p>
            <a:pPr algn="r">
              <a:defRPr b="1" sz="1300">
                <a:solidFill>
                  <a:srgbClr val="94A3B8"/>
                </a:solidFill>
                <a:latin typeface="Segoe UI"/>
              </a:defRPr>
            </a:pPr>
            <a:r>
              <a:t>1 / 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292608"/>
          </a:xfrm>
          <a:prstGeom prst="rect">
            <a:avLst/>
          </a:prstGeom>
          <a:noFill/>
        </p:spPr>
        <p:txBody>
          <a:bodyPr wrap="square" lIns="0" rIns="0" tIns="0" bIns="0">
            <a:spAutoFit/>
          </a:bodyPr>
          <a:lstStyle/>
          <a:p>
            <a:pPr>
              <a:defRPr sz="1100" b="1">
                <a:solidFill>
                  <a:srgbClr val="0EA5E9"/>
                </a:solidFill>
                <a:latin typeface="Segoe UI"/>
              </a:defRPr>
            </a:pPr>
            <a:r>
              <a:t>SYSTEM DESIGN &amp; RATIONALE</a:t>
            </a:r>
          </a:p>
        </p:txBody>
      </p:sp>
      <p:sp>
        <p:nvSpPr>
          <p:cNvPr id="4" name="TextBox 3"/>
          <p:cNvSpPr txBox="1"/>
          <p:nvPr/>
        </p:nvSpPr>
        <p:spPr>
          <a:xfrm>
            <a:off x="731520" y="658368"/>
            <a:ext cx="10515600" cy="594360"/>
          </a:xfrm>
          <a:prstGeom prst="rect">
            <a:avLst/>
          </a:prstGeom>
          <a:noFill/>
        </p:spPr>
        <p:txBody>
          <a:bodyPr wrap="square" lIns="0" rIns="0" tIns="0" bIns="0">
            <a:spAutoFit/>
          </a:bodyPr>
          <a:lstStyle/>
          <a:p>
            <a:pPr>
              <a:defRPr sz="2800" b="1">
                <a:solidFill>
                  <a:srgbClr val="0F172A"/>
                </a:solidFill>
                <a:latin typeface="Segoe UI"/>
              </a:defRPr>
            </a:pPr>
            <a:r>
              <a:t>End-to-End System Architecture</a:t>
            </a:r>
          </a:p>
        </p:txBody>
      </p:sp>
      <p:sp>
        <p:nvSpPr>
          <p:cNvPr id="5" name="TextBox 4"/>
          <p:cNvSpPr txBox="1"/>
          <p:nvPr/>
        </p:nvSpPr>
        <p:spPr>
          <a:xfrm>
            <a:off x="731520" y="1371600"/>
            <a:ext cx="4754880" cy="320040"/>
          </a:xfrm>
          <a:prstGeom prst="rect">
            <a:avLst/>
          </a:prstGeom>
          <a:noFill/>
        </p:spPr>
        <p:txBody>
          <a:bodyPr wrap="none" lIns="0" tIns="0">
            <a:spAutoFit/>
          </a:bodyPr>
          <a:lstStyle/>
          <a:p>
            <a:pPr>
              <a:defRPr sz="1200" b="1">
                <a:solidFill>
                  <a:srgbClr val="64748B"/>
                </a:solidFill>
                <a:latin typeface="Segoe UI"/>
              </a:defRPr>
            </a:pPr>
            <a:r>
              <a:t>3-LAYER SYSTEM INTEGRATION</a:t>
            </a:r>
          </a:p>
        </p:txBody>
      </p:sp>
      <p:sp>
        <p:nvSpPr>
          <p:cNvPr id="6" name="Rounded Rectangle 5"/>
          <p:cNvSpPr/>
          <p:nvPr/>
        </p:nvSpPr>
        <p:spPr>
          <a:xfrm>
            <a:off x="731520" y="1737360"/>
            <a:ext cx="4754880" cy="1051560"/>
          </a:xfrm>
          <a:prstGeom prst="roundRect">
            <a:avLst/>
          </a:prstGeom>
          <a:solidFill>
            <a:srgbClr val="EEF2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sz="1000" b="1">
                <a:solidFill>
                  <a:srgbClr val="64748B"/>
                </a:solidFill>
                <a:latin typeface="Segoe UI"/>
              </a:defRPr>
            </a:pPr>
            <a:r>
              <a:t>DESKTOP PRESENTATION LAYER</a:t>
            </a:r>
          </a:p>
          <a:p>
            <a:pPr>
              <a:defRPr sz="1400" b="1">
                <a:solidFill>
                  <a:srgbClr val="0F172A"/>
                </a:solidFill>
                <a:latin typeface="Segoe UI"/>
              </a:defRPr>
            </a:pPr>
            <a:r>
              <a:t>JavaFX 21 (Controls + Graphics)</a:t>
            </a:r>
          </a:p>
          <a:p>
            <a:pPr>
              <a:defRPr sz="1100">
                <a:solidFill>
                  <a:srgbClr val="64748B"/>
                </a:solidFill>
                <a:latin typeface="Segoe UI"/>
              </a:defRPr>
            </a:pPr>
            <a:r>
              <a:t>Multithreaded Task&lt;T&gt; UI • Zero Freezes • Real-time Search</a:t>
            </a:r>
          </a:p>
        </p:txBody>
      </p:sp>
      <p:sp>
        <p:nvSpPr>
          <p:cNvPr id="7" name="Down Arrow 6"/>
          <p:cNvSpPr/>
          <p:nvPr/>
        </p:nvSpPr>
        <p:spPr>
          <a:xfrm>
            <a:off x="2926080" y="2816352"/>
            <a:ext cx="320040" cy="256032"/>
          </a:xfrm>
          <a:prstGeom prst="downArrow">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3108960"/>
            <a:ext cx="4754880" cy="1051560"/>
          </a:xfrm>
          <a:prstGeom prst="roundRect">
            <a:avLst/>
          </a:prstGeom>
          <a:solidFill>
            <a:srgbClr val="F0FDFA"/>
          </a:solidFill>
          <a:ln w="1905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sz="1000" b="1">
                <a:solidFill>
                  <a:srgbClr val="64748B"/>
                </a:solidFill>
                <a:latin typeface="Segoe UI"/>
              </a:defRPr>
            </a:pPr>
            <a:r>
              <a:t>DATABASE CONNECTIVITY LAYER</a:t>
            </a:r>
          </a:p>
          <a:p>
            <a:pPr>
              <a:defRPr sz="1400" b="1">
                <a:solidFill>
                  <a:srgbClr val="0F172A"/>
                </a:solidFill>
                <a:latin typeface="Segoe UI"/>
              </a:defRPr>
            </a:pPr>
            <a:r>
              <a:t>Pure JDBC Driver (ojdbc11 23ai)</a:t>
            </a:r>
          </a:p>
          <a:p>
            <a:pPr>
              <a:defRPr sz="1100">
                <a:solidFill>
                  <a:srgbClr val="64748B"/>
                </a:solidFill>
                <a:latin typeface="Segoe UI"/>
              </a:defRPr>
            </a:pPr>
            <a:r>
              <a:t>Explicit ACID Transactions • Direct CallableStatement Execution</a:t>
            </a:r>
          </a:p>
        </p:txBody>
      </p:sp>
      <p:sp>
        <p:nvSpPr>
          <p:cNvPr id="9" name="Down Arrow 8"/>
          <p:cNvSpPr/>
          <p:nvPr/>
        </p:nvSpPr>
        <p:spPr>
          <a:xfrm>
            <a:off x="2926080" y="4187952"/>
            <a:ext cx="320040" cy="256032"/>
          </a:xfrm>
          <a:prstGeom prst="downArrow">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480560"/>
            <a:ext cx="4754880" cy="1051560"/>
          </a:xfrm>
          <a:prstGeom prst="roundRect">
            <a:avLst/>
          </a:prstGeom>
          <a:solidFill>
            <a:srgbClr val="FEF2F2"/>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sz="1000" b="1">
                <a:solidFill>
                  <a:srgbClr val="64748B"/>
                </a:solidFill>
                <a:latin typeface="Segoe UI"/>
              </a:defRPr>
            </a:pPr>
            <a:r>
              <a:t>RELATIONAL STORAGE &amp; LOGIC</a:t>
            </a:r>
          </a:p>
          <a:p>
            <a:pPr>
              <a:defRPr sz="1400" b="1">
                <a:solidFill>
                  <a:srgbClr val="0F172A"/>
                </a:solidFill>
                <a:latin typeface="Segoe UI"/>
              </a:defRPr>
            </a:pPr>
            <a:r>
              <a:t>Oracle Database 23ai (FREEPDB1)</a:t>
            </a:r>
          </a:p>
          <a:p>
            <a:pPr>
              <a:defRPr sz="1100">
                <a:solidFill>
                  <a:srgbClr val="64748B"/>
                </a:solidFill>
                <a:latin typeface="Segoe UI"/>
              </a:defRPr>
            </a:pPr>
            <a:r>
              <a:t>17 Tables (3NF) • PL/SQL Packages • Compound Triggers</a:t>
            </a:r>
          </a:p>
        </p:txBody>
      </p:sp>
      <p:sp>
        <p:nvSpPr>
          <p:cNvPr id="11" name="TextBox 10"/>
          <p:cNvSpPr txBox="1"/>
          <p:nvPr/>
        </p:nvSpPr>
        <p:spPr>
          <a:xfrm>
            <a:off x="5852160" y="1371600"/>
            <a:ext cx="5577840" cy="320040"/>
          </a:xfrm>
          <a:prstGeom prst="rect">
            <a:avLst/>
          </a:prstGeom>
          <a:noFill/>
        </p:spPr>
        <p:txBody>
          <a:bodyPr wrap="none" lIns="0" tIns="0">
            <a:spAutoFit/>
          </a:bodyPr>
          <a:lstStyle/>
          <a:p>
            <a:pPr>
              <a:defRPr sz="1200" b="1">
                <a:solidFill>
                  <a:srgbClr val="64748B"/>
                </a:solidFill>
                <a:latin typeface="Segoe UI"/>
              </a:defRPr>
            </a:pPr>
            <a:r>
              <a:t>CORE COMPONENT SELECTION &amp; JUSTIFICATION</a:t>
            </a:r>
          </a:p>
        </p:txBody>
      </p:sp>
      <p:graphicFrame>
        <p:nvGraphicFramePr>
          <p:cNvPr id="12" name="Table 11"/>
          <p:cNvGraphicFramePr>
            <a:graphicFrameLocks noGrp="1"/>
          </p:cNvGraphicFramePr>
          <p:nvPr/>
        </p:nvGraphicFramePr>
        <p:xfrm>
          <a:off x="5852160" y="1737360"/>
          <a:ext cx="5577840" cy="4114800"/>
        </p:xfrm>
        <a:graphic>
          <a:graphicData uri="http://schemas.openxmlformats.org/drawingml/2006/table">
            <a:tbl>
              <a:tblPr firstRow="1" bandRow="1">
                <a:tableStyleId>{5C22544A-7EE6-4342-B048-85BDC9FD1C3A}</a:tableStyleId>
              </a:tblPr>
              <a:tblGrid>
                <a:gridCol w="1371600"/>
                <a:gridCol w="1188720"/>
                <a:gridCol w="3017520"/>
              </a:tblGrid>
              <a:tr h="822960">
                <a:tc>
                  <a:txBody>
                    <a:bodyPr/>
                    <a:lstStyle/>
                    <a:p>
                      <a:pPr>
                        <a:defRPr b="1" sz="1200">
                          <a:solidFill>
                            <a:srgbClr val="F1F5F9"/>
                          </a:solidFill>
                          <a:latin typeface="Segoe UI"/>
                        </a:defRPr>
                      </a:pPr>
                      <a:r>
                        <a:t>Layer / Component</a:t>
                      </a:r>
                    </a:p>
                  </a:txBody>
                  <a:tcPr>
                    <a:solidFill>
                      <a:srgbClr val="0F172A"/>
                    </a:solidFill>
                  </a:tcPr>
                </a:tc>
                <a:tc>
                  <a:txBody>
                    <a:bodyPr/>
                    <a:lstStyle/>
                    <a:p>
                      <a:pPr>
                        <a:defRPr b="1" sz="1200">
                          <a:solidFill>
                            <a:srgbClr val="F1F5F9"/>
                          </a:solidFill>
                          <a:latin typeface="Segoe UI"/>
                        </a:defRPr>
                      </a:pPr>
                      <a:r>
                        <a:t>Technology</a:t>
                      </a:r>
                    </a:p>
                  </a:txBody>
                  <a:tcPr>
                    <a:solidFill>
                      <a:srgbClr val="0F172A"/>
                    </a:solidFill>
                  </a:tcPr>
                </a:tc>
                <a:tc>
                  <a:txBody>
                    <a:bodyPr/>
                    <a:lstStyle/>
                    <a:p>
                      <a:pPr>
                        <a:defRPr b="1" sz="1200">
                          <a:solidFill>
                            <a:srgbClr val="F1F5F9"/>
                          </a:solidFill>
                          <a:latin typeface="Segoe UI"/>
                        </a:defRPr>
                      </a:pPr>
                      <a:r>
                        <a:t>Design Justification (The 'Why')</a:t>
                      </a:r>
                    </a:p>
                  </a:txBody>
                  <a:tcPr>
                    <a:solidFill>
                      <a:srgbClr val="0F172A"/>
                    </a:solidFill>
                  </a:tcPr>
                </a:tc>
              </a:tr>
              <a:tr h="822960">
                <a:tc>
                  <a:txBody>
                    <a:bodyPr/>
                    <a:lstStyle/>
                    <a:p>
                      <a:pPr>
                        <a:defRPr sz="1100">
                          <a:solidFill>
                            <a:srgbClr val="0F172A"/>
                          </a:solidFill>
                          <a:latin typeface="Segoe UI"/>
                        </a:defRPr>
                      </a:pPr>
                      <a:r>
                        <a:t>Java Platform</a:t>
                      </a:r>
                    </a:p>
                  </a:txBody>
                  <a:tcPr>
                    <a:solidFill>
                      <a:srgbClr val="FFFFFF"/>
                    </a:solidFill>
                  </a:tcPr>
                </a:tc>
                <a:tc>
                  <a:txBody>
                    <a:bodyPr/>
                    <a:lstStyle/>
                    <a:p>
                      <a:pPr>
                        <a:defRPr sz="1100">
                          <a:solidFill>
                            <a:srgbClr val="0F172A"/>
                          </a:solidFill>
                          <a:latin typeface="Segoe UI"/>
                        </a:defRPr>
                      </a:pPr>
                      <a:r>
                        <a:t>Java 17 / 25 LTS</a:t>
                      </a:r>
                    </a:p>
                  </a:txBody>
                  <a:tcPr>
                    <a:solidFill>
                      <a:srgbClr val="FFFFFF"/>
                    </a:solidFill>
                  </a:tcPr>
                </a:tc>
                <a:tc>
                  <a:txBody>
                    <a:bodyPr/>
                    <a:lstStyle/>
                    <a:p>
                      <a:pPr>
                        <a:defRPr sz="1100">
                          <a:solidFill>
                            <a:srgbClr val="0F172A"/>
                          </a:solidFill>
                          <a:latin typeface="Segoe UI"/>
                        </a:defRPr>
                      </a:pPr>
                      <a:r>
                        <a:t>High-throughput concurrency primitives and long-term platform stability.</a:t>
                      </a:r>
                    </a:p>
                  </a:txBody>
                  <a:tcPr>
                    <a:solidFill>
                      <a:srgbClr val="FFFFFF"/>
                    </a:solidFill>
                  </a:tcPr>
                </a:tc>
              </a:tr>
              <a:tr h="822960">
                <a:tc>
                  <a:txBody>
                    <a:bodyPr/>
                    <a:lstStyle/>
                    <a:p>
                      <a:pPr>
                        <a:defRPr sz="1100">
                          <a:solidFill>
                            <a:srgbClr val="0F172A"/>
                          </a:solidFill>
                          <a:latin typeface="Segoe UI"/>
                        </a:defRPr>
                      </a:pPr>
                      <a:r>
                        <a:t>Build Tool</a:t>
                      </a:r>
                    </a:p>
                  </a:txBody>
                  <a:tcPr>
                    <a:solidFill>
                      <a:srgbClr val="F1F5F9"/>
                    </a:solidFill>
                  </a:tcPr>
                </a:tc>
                <a:tc>
                  <a:txBody>
                    <a:bodyPr/>
                    <a:lstStyle/>
                    <a:p>
                      <a:pPr>
                        <a:defRPr sz="1100">
                          <a:solidFill>
                            <a:srgbClr val="0F172A"/>
                          </a:solidFill>
                          <a:latin typeface="Segoe UI"/>
                        </a:defRPr>
                      </a:pPr>
                      <a:r>
                        <a:t>Apache Maven 3.9+</a:t>
                      </a:r>
                    </a:p>
                  </a:txBody>
                  <a:tcPr>
                    <a:solidFill>
                      <a:srgbClr val="F1F5F9"/>
                    </a:solidFill>
                  </a:tcPr>
                </a:tc>
                <a:tc>
                  <a:txBody>
                    <a:bodyPr/>
                    <a:lstStyle/>
                    <a:p>
                      <a:pPr>
                        <a:defRPr sz="1100">
                          <a:solidFill>
                            <a:srgbClr val="0F172A"/>
                          </a:solidFill>
                          <a:latin typeface="Segoe UI"/>
                        </a:defRPr>
                      </a:pPr>
                      <a:r>
                        <a:t>Automated dependency lifecycle, artifact packaging, and build reproduction.</a:t>
                      </a:r>
                    </a:p>
                  </a:txBody>
                  <a:tcPr>
                    <a:solidFill>
                      <a:srgbClr val="F1F5F9"/>
                    </a:solidFill>
                  </a:tcPr>
                </a:tc>
              </a:tr>
              <a:tr h="822960">
                <a:tc>
                  <a:txBody>
                    <a:bodyPr/>
                    <a:lstStyle/>
                    <a:p>
                      <a:pPr>
                        <a:defRPr sz="1100">
                          <a:solidFill>
                            <a:srgbClr val="0F172A"/>
                          </a:solidFill>
                          <a:latin typeface="Segoe UI"/>
                        </a:defRPr>
                      </a:pPr>
                      <a:r>
                        <a:t>Credential Security</a:t>
                      </a:r>
                    </a:p>
                  </a:txBody>
                  <a:tcPr>
                    <a:solidFill>
                      <a:srgbClr val="FFFFFF"/>
                    </a:solidFill>
                  </a:tcPr>
                </a:tc>
                <a:tc>
                  <a:txBody>
                    <a:bodyPr/>
                    <a:lstStyle/>
                    <a:p>
                      <a:pPr>
                        <a:defRPr sz="1100">
                          <a:solidFill>
                            <a:srgbClr val="0F172A"/>
                          </a:solidFill>
                          <a:latin typeface="Segoe UI"/>
                        </a:defRPr>
                      </a:pPr>
                      <a:r>
                        <a:t>jBCrypt 0.4</a:t>
                      </a:r>
                    </a:p>
                  </a:txBody>
                  <a:tcPr>
                    <a:solidFill>
                      <a:srgbClr val="FFFFFF"/>
                    </a:solidFill>
                  </a:tcPr>
                </a:tc>
                <a:tc>
                  <a:txBody>
                    <a:bodyPr/>
                    <a:lstStyle/>
                    <a:p>
                      <a:pPr>
                        <a:defRPr sz="1100">
                          <a:solidFill>
                            <a:srgbClr val="0F172A"/>
                          </a:solidFill>
                          <a:latin typeface="Segoe UI"/>
                        </a:defRPr>
                      </a:pPr>
                      <a:r>
                        <a:t>Adaptive 12-round salted hashing preventing rainbow table lookups.</a:t>
                      </a:r>
                    </a:p>
                  </a:txBody>
                  <a:tcPr>
                    <a:solidFill>
                      <a:srgbClr val="FFFFFF"/>
                    </a:solidFill>
                  </a:tcPr>
                </a:tc>
              </a:tr>
              <a:tr h="822960">
                <a:tc>
                  <a:txBody>
                    <a:bodyPr/>
                    <a:lstStyle/>
                    <a:p>
                      <a:pPr>
                        <a:defRPr sz="1100">
                          <a:solidFill>
                            <a:srgbClr val="0F172A"/>
                          </a:solidFill>
                          <a:latin typeface="Segoe UI"/>
                        </a:defRPr>
                      </a:pPr>
                      <a:r>
                        <a:t>System Logging</a:t>
                      </a:r>
                    </a:p>
                  </a:txBody>
                  <a:tcPr>
                    <a:solidFill>
                      <a:srgbClr val="F1F5F9"/>
                    </a:solidFill>
                  </a:tcPr>
                </a:tc>
                <a:tc>
                  <a:txBody>
                    <a:bodyPr/>
                    <a:lstStyle/>
                    <a:p>
                      <a:pPr>
                        <a:defRPr sz="1100">
                          <a:solidFill>
                            <a:srgbClr val="0F172A"/>
                          </a:solidFill>
                          <a:latin typeface="Segoe UI"/>
                        </a:defRPr>
                      </a:pPr>
                      <a:r>
                        <a:t>SLF4J + Logback</a:t>
                      </a:r>
                    </a:p>
                  </a:txBody>
                  <a:tcPr>
                    <a:solidFill>
                      <a:srgbClr val="F1F5F9"/>
                    </a:solidFill>
                  </a:tcPr>
                </a:tc>
                <a:tc>
                  <a:txBody>
                    <a:bodyPr/>
                    <a:lstStyle/>
                    <a:p>
                      <a:pPr>
                        <a:defRPr sz="1100">
                          <a:solidFill>
                            <a:srgbClr val="0F172A"/>
                          </a:solidFill>
                          <a:latin typeface="Segoe UI"/>
                        </a:defRPr>
                      </a:pPr>
                      <a:r>
                        <a:t>Structured diagnostic tracing of JDBC statements and background thread tasks.</a:t>
                      </a:r>
                    </a:p>
                  </a:txBody>
                  <a:tcPr>
                    <a:solidFill>
                      <a:srgbClr val="F1F5F9"/>
                    </a:solidFill>
                  </a:tcPr>
                </a:tc>
              </a:tr>
            </a:tbl>
          </a:graphicData>
        </a:graphic>
      </p:graphicFrame>
      <p:sp>
        <p:nvSpPr>
          <p:cNvPr id="13" name="Rectangle 12"/>
          <p:cNvSpPr/>
          <p:nvPr/>
        </p:nvSpPr>
        <p:spPr>
          <a:xfrm>
            <a:off x="731520" y="62179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6291072"/>
            <a:ext cx="9601200" cy="365760"/>
          </a:xfrm>
          <a:prstGeom prst="rect">
            <a:avLst/>
          </a:prstGeom>
          <a:noFill/>
        </p:spPr>
        <p:txBody>
          <a:bodyPr wrap="square" lIns="0" rIns="0" tIns="0" bIns="0">
            <a:spAutoFit/>
          </a:bodyPr>
          <a:lstStyle/>
          <a:p>
            <a:r>
              <a:rPr b="1" sz="1300">
                <a:solidFill>
                  <a:srgbClr val="0EA5E9"/>
                </a:solidFill>
                <a:latin typeface="Segoe UI"/>
              </a:rPr>
              <a:t>KEY TAKEAWAY: </a:t>
            </a:r>
            <a:r>
              <a:rPr b="0" sz="1300">
                <a:solidFill>
                  <a:srgbClr val="64748B"/>
                </a:solidFill>
                <a:latin typeface="Segoe UI"/>
              </a:rPr>
              <a:t>Pure JDBC ensures zero ORM overhead and direct control over Oracle transactions.</a:t>
            </a:r>
          </a:p>
        </p:txBody>
      </p:sp>
      <p:sp>
        <p:nvSpPr>
          <p:cNvPr id="15" name="TextBox 14"/>
          <p:cNvSpPr txBox="1"/>
          <p:nvPr/>
        </p:nvSpPr>
        <p:spPr>
          <a:xfrm>
            <a:off x="10515600" y="6291072"/>
            <a:ext cx="914400" cy="365760"/>
          </a:xfrm>
          <a:prstGeom prst="rect">
            <a:avLst/>
          </a:prstGeom>
          <a:noFill/>
        </p:spPr>
        <p:txBody>
          <a:bodyPr wrap="none" lIns="0" rIns="0" tIns="0" bIns="0">
            <a:spAutoFit/>
          </a:bodyPr>
          <a:lstStyle/>
          <a:p>
            <a:pPr algn="r">
              <a:defRPr b="1" sz="1300">
                <a:solidFill>
                  <a:srgbClr val="64748B"/>
                </a:solidFill>
                <a:latin typeface="Segoe UI"/>
              </a:defRPr>
            </a:pPr>
            <a:r>
              <a:t>2 / 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292608"/>
          </a:xfrm>
          <a:prstGeom prst="rect">
            <a:avLst/>
          </a:prstGeom>
          <a:noFill/>
        </p:spPr>
        <p:txBody>
          <a:bodyPr wrap="square" lIns="0" rIns="0" tIns="0" bIns="0">
            <a:spAutoFit/>
          </a:bodyPr>
          <a:lstStyle/>
          <a:p>
            <a:pPr>
              <a:defRPr sz="1100" b="1">
                <a:solidFill>
                  <a:srgbClr val="0EA5E9"/>
                </a:solidFill>
                <a:latin typeface="Segoe UI"/>
              </a:defRPr>
            </a:pPr>
            <a:r>
              <a:t>RELATIONAL DATABASE MODELING</a:t>
            </a:r>
          </a:p>
        </p:txBody>
      </p:sp>
      <p:sp>
        <p:nvSpPr>
          <p:cNvPr id="4" name="TextBox 3"/>
          <p:cNvSpPr txBox="1"/>
          <p:nvPr/>
        </p:nvSpPr>
        <p:spPr>
          <a:xfrm>
            <a:off x="731520" y="658368"/>
            <a:ext cx="10515600" cy="594360"/>
          </a:xfrm>
          <a:prstGeom prst="rect">
            <a:avLst/>
          </a:prstGeom>
          <a:noFill/>
        </p:spPr>
        <p:txBody>
          <a:bodyPr wrap="square" lIns="0" rIns="0" tIns="0" bIns="0">
            <a:spAutoFit/>
          </a:bodyPr>
          <a:lstStyle/>
          <a:p>
            <a:pPr>
              <a:defRPr sz="2800" b="1">
                <a:solidFill>
                  <a:srgbClr val="0F172A"/>
                </a:solidFill>
                <a:latin typeface="Segoe UI"/>
              </a:defRPr>
            </a:pPr>
            <a:r>
              <a:t>Relational Schema &amp; 17 Core Tables</a:t>
            </a:r>
          </a:p>
        </p:txBody>
      </p:sp>
      <p:sp>
        <p:nvSpPr>
          <p:cNvPr id="5" name="Rounded Rectangle 4"/>
          <p:cNvSpPr/>
          <p:nvPr/>
        </p:nvSpPr>
        <p:spPr>
          <a:xfrm>
            <a:off x="731520" y="1371600"/>
            <a:ext cx="2606040" cy="1828800"/>
          </a:xfrm>
          <a:prstGeom prst="roundRect">
            <a:avLst/>
          </a:prstGeom>
          <a:solidFill>
            <a:srgbClr val="EEF2FF"/>
          </a:solidFill>
          <a:ln w="1905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sz="1200" b="1">
                <a:solidFill>
                  <a:srgbClr val="6366F1"/>
                </a:solidFill>
                <a:latin typeface="Segoe UI"/>
              </a:defRPr>
            </a:pPr>
            <a:r>
              <a:t>Customers &amp; Locations</a:t>
            </a:r>
          </a:p>
          <a:p>
            <a:pPr>
              <a:spcBef>
                <a:spcPts val="600"/>
              </a:spcBef>
              <a:defRPr sz="1100">
                <a:solidFill>
                  <a:srgbClr val="0F172A"/>
                </a:solidFill>
                <a:latin typeface="Segoe UI"/>
              </a:defRPr>
            </a:pPr>
            <a:r>
              <a:t>3 Tables:</a:t>
            </a:r>
            <a:br/>
            <a:r>
              <a:t>CUSTOMER, ADDRESS, SERVICE_AREA</a:t>
            </a:r>
          </a:p>
        </p:txBody>
      </p:sp>
      <p:sp>
        <p:nvSpPr>
          <p:cNvPr id="6" name="Rounded Rectangle 5"/>
          <p:cNvSpPr/>
          <p:nvPr/>
        </p:nvSpPr>
        <p:spPr>
          <a:xfrm>
            <a:off x="3447288" y="1371600"/>
            <a:ext cx="2606040" cy="1828800"/>
          </a:xfrm>
          <a:prstGeom prst="roundRect">
            <a:avLst/>
          </a:prstGeom>
          <a:solidFill>
            <a:srgbClr val="F0FDF4"/>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sz="1200" b="1">
                <a:solidFill>
                  <a:srgbClr val="22C55E"/>
                </a:solidFill>
                <a:latin typeface="Segoe UI"/>
              </a:defRPr>
            </a:pPr>
            <a:r>
              <a:t>Plans &amp; Subscriptions</a:t>
            </a:r>
          </a:p>
          <a:p>
            <a:pPr>
              <a:spcBef>
                <a:spcPts val="600"/>
              </a:spcBef>
              <a:defRPr sz="1100">
                <a:solidFill>
                  <a:srgbClr val="0F172A"/>
                </a:solidFill>
                <a:latin typeface="Segoe UI"/>
              </a:defRPr>
            </a:pPr>
            <a:r>
              <a:t>4 Tables:</a:t>
            </a:r>
            <a:br/>
            <a:r>
              <a:t>PLAN, SUBSCRIPTION, EQUIPMENT, USAGE_RECORD</a:t>
            </a:r>
          </a:p>
        </p:txBody>
      </p:sp>
      <p:sp>
        <p:nvSpPr>
          <p:cNvPr id="7" name="Rounded Rectangle 6"/>
          <p:cNvSpPr/>
          <p:nvPr/>
        </p:nvSpPr>
        <p:spPr>
          <a:xfrm>
            <a:off x="6163056" y="1371600"/>
            <a:ext cx="2606040" cy="1828800"/>
          </a:xfrm>
          <a:prstGeom prst="roundRect">
            <a:avLst/>
          </a:prstGeom>
          <a:solidFill>
            <a:srgbClr val="FFF7ED"/>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sz="1200" b="1">
                <a:solidFill>
                  <a:srgbClr val="F97316"/>
                </a:solidFill>
                <a:latin typeface="Segoe UI"/>
              </a:defRPr>
            </a:pPr>
            <a:r>
              <a:t>Billing &amp; Revenue</a:t>
            </a:r>
          </a:p>
          <a:p>
            <a:pPr>
              <a:spcBef>
                <a:spcPts val="600"/>
              </a:spcBef>
              <a:defRPr sz="1100">
                <a:solidFill>
                  <a:srgbClr val="0F172A"/>
                </a:solidFill>
                <a:latin typeface="Segoe UI"/>
              </a:defRPr>
            </a:pPr>
            <a:r>
              <a:t>3 Tables:</a:t>
            </a:r>
            <a:br/>
            <a:r>
              <a:t>INVOICE, INVOICE_ITEM, PAYMENT</a:t>
            </a:r>
          </a:p>
        </p:txBody>
      </p:sp>
      <p:sp>
        <p:nvSpPr>
          <p:cNvPr id="8" name="Rounded Rectangle 7"/>
          <p:cNvSpPr/>
          <p:nvPr/>
        </p:nvSpPr>
        <p:spPr>
          <a:xfrm>
            <a:off x="8878824" y="1371600"/>
            <a:ext cx="2606040" cy="1828800"/>
          </a:xfrm>
          <a:prstGeom prst="roundRect">
            <a:avLst/>
          </a:prstGeom>
          <a:solidFill>
            <a:srgbClr val="FEF2F2"/>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sz="1200" b="1">
                <a:solidFill>
                  <a:srgbClr val="EF4444"/>
                </a:solidFill>
                <a:latin typeface="Segoe UI"/>
              </a:defRPr>
            </a:pPr>
            <a:r>
              <a:t>Operations &amp; Security</a:t>
            </a:r>
          </a:p>
          <a:p>
            <a:pPr>
              <a:spcBef>
                <a:spcPts val="600"/>
              </a:spcBef>
              <a:defRPr sz="1100">
                <a:solidFill>
                  <a:srgbClr val="0F172A"/>
                </a:solidFill>
                <a:latin typeface="Segoe UI"/>
              </a:defRPr>
            </a:pPr>
            <a:r>
              <a:t>7 Tables:</a:t>
            </a:r>
            <a:br/>
            <a:r>
              <a:t>TECHNICIAN, INSTALLATION, SUPPORT_TICKET, TICKET_UPDATE, NETWORK_OUTAGE, APP_USER, AUDIT_LOG</a:t>
            </a:r>
          </a:p>
        </p:txBody>
      </p:sp>
      <p:sp>
        <p:nvSpPr>
          <p:cNvPr id="9" name="Rounded Rectangle 8"/>
          <p:cNvSpPr/>
          <p:nvPr/>
        </p:nvSpPr>
        <p:spPr>
          <a:xfrm>
            <a:off x="731520" y="3383280"/>
            <a:ext cx="3429000" cy="26060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0EA5E9"/>
                </a:solidFill>
              </a:defRPr>
            </a:pPr>
            <a:r>
              <a:t>CORE ER RELATIONSHIPS</a:t>
            </a:r>
          </a:p>
          <a:p>
            <a:pPr>
              <a:spcBef>
                <a:spcPts val="400"/>
              </a:spcBef>
              <a:defRPr sz="1100">
                <a:solidFill>
                  <a:srgbClr val="0F172A"/>
                </a:solidFill>
              </a:defRPr>
            </a:pPr>
            <a:r>
              <a:t>• CUSTOMER 1:N SUBSCRIPTION (Contracts)</a:t>
            </a:r>
          </a:p>
          <a:p>
            <a:pPr>
              <a:spcBef>
                <a:spcPts val="400"/>
              </a:spcBef>
              <a:defRPr sz="1100">
                <a:solidFill>
                  <a:srgbClr val="0F172A"/>
                </a:solidFill>
              </a:defRPr>
            </a:pPr>
            <a:r>
              <a:t>• PLAN 1:N SUBSCRIPTION (Catalog links)</a:t>
            </a:r>
          </a:p>
          <a:p>
            <a:pPr>
              <a:spcBef>
                <a:spcPts val="400"/>
              </a:spcBef>
              <a:defRPr sz="1100">
                <a:solidFill>
                  <a:srgbClr val="0F172A"/>
                </a:solidFill>
              </a:defRPr>
            </a:pPr>
            <a:r>
              <a:t>• SUBSCRIPTION 1:N INVOICE (Monthly billing)</a:t>
            </a:r>
          </a:p>
          <a:p>
            <a:pPr>
              <a:spcBef>
                <a:spcPts val="400"/>
              </a:spcBef>
              <a:defRPr sz="1100">
                <a:solidFill>
                  <a:srgbClr val="0F172A"/>
                </a:solidFill>
              </a:defRPr>
            </a:pPr>
            <a:r>
              <a:t>• INVOICE 1:N PAYMENT (Payment ledger)</a:t>
            </a:r>
          </a:p>
          <a:p>
            <a:pPr>
              <a:spcBef>
                <a:spcPts val="400"/>
              </a:spcBef>
              <a:defRPr sz="1100">
                <a:solidFill>
                  <a:srgbClr val="0F172A"/>
                </a:solidFill>
              </a:defRPr>
            </a:pPr>
            <a:r>
              <a:t>• TECHNICIAN 1:N TICKET (Support log)</a:t>
            </a:r>
          </a:p>
        </p:txBody>
      </p:sp>
      <p:sp>
        <p:nvSpPr>
          <p:cNvPr id="10" name="Rounded Rectangle 9"/>
          <p:cNvSpPr/>
          <p:nvPr/>
        </p:nvSpPr>
        <p:spPr>
          <a:xfrm>
            <a:off x="4370832" y="3383280"/>
            <a:ext cx="3429000" cy="26060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0EA5E9"/>
                </a:solidFill>
              </a:defRPr>
            </a:pPr>
            <a:r>
              <a:t>NORMALIZATION &amp; INDEXING</a:t>
            </a:r>
          </a:p>
          <a:p>
            <a:pPr>
              <a:spcBef>
                <a:spcPts val="400"/>
              </a:spcBef>
              <a:defRPr sz="1100">
                <a:solidFill>
                  <a:srgbClr val="0F172A"/>
                </a:solidFill>
              </a:defRPr>
            </a:pPr>
            <a:r>
              <a:t>• 3NF/BCNF Model: Zero transitive dependencies or insertion/update anomalies.</a:t>
            </a:r>
          </a:p>
          <a:p>
            <a:pPr>
              <a:spcBef>
                <a:spcPts val="400"/>
              </a:spcBef>
              <a:defRPr sz="1100">
                <a:solidFill>
                  <a:srgbClr val="0F172A"/>
                </a:solidFill>
              </a:defRPr>
            </a:pPr>
            <a:r>
              <a:t>• Foreign Key Indexes: idx_cust_area, idx_sub_cust eliminate table scans.</a:t>
            </a:r>
          </a:p>
          <a:p>
            <a:pPr>
              <a:spcBef>
                <a:spcPts val="400"/>
              </a:spcBef>
              <a:defRPr sz="1100">
                <a:solidFill>
                  <a:srgbClr val="0F172A"/>
                </a:solidFill>
              </a:defRPr>
            </a:pPr>
            <a:r>
              <a:t>• Composite Indexes: idx_inv_status_due on (status, due_date) speeds up queries.</a:t>
            </a:r>
          </a:p>
          <a:p>
            <a:pPr>
              <a:spcBef>
                <a:spcPts val="400"/>
              </a:spcBef>
              <a:defRPr sz="1100">
                <a:solidFill>
                  <a:srgbClr val="0F172A"/>
                </a:solidFill>
              </a:defRPr>
            </a:pPr>
            <a:r>
              <a:t>• Search Indexes: Case-insensitive lookups on customer names and phone numbers.</a:t>
            </a:r>
          </a:p>
        </p:txBody>
      </p:sp>
      <p:sp>
        <p:nvSpPr>
          <p:cNvPr id="11" name="Rounded Rectangle 10"/>
          <p:cNvSpPr/>
          <p:nvPr/>
        </p:nvSpPr>
        <p:spPr>
          <a:xfrm>
            <a:off x="8010144" y="3383280"/>
            <a:ext cx="3429000" cy="26060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200">
                <a:solidFill>
                  <a:srgbClr val="0EA5E9"/>
                </a:solidFill>
              </a:defRPr>
            </a:pPr>
            <a:r>
              <a:t>6 ANALYTICAL VIEWS</a:t>
            </a:r>
          </a:p>
          <a:p>
            <a:pPr>
              <a:spcBef>
                <a:spcPts val="400"/>
              </a:spcBef>
              <a:defRPr sz="1100">
                <a:solidFill>
                  <a:srgbClr val="0F172A"/>
                </a:solidFill>
              </a:defRPr>
            </a:pPr>
            <a:r>
              <a:t>• V_ACTIVE_SUBSCRIPTIONS: Live customer plan registry</a:t>
            </a:r>
          </a:p>
          <a:p>
            <a:pPr>
              <a:spcBef>
                <a:spcPts val="400"/>
              </a:spcBef>
              <a:defRPr sz="1100">
                <a:solidFill>
                  <a:srgbClr val="0F172A"/>
                </a:solidFill>
              </a:defRPr>
            </a:pPr>
            <a:r>
              <a:t>• V_OVERDUE_INVOICES: Aging receivables &amp; risk flag</a:t>
            </a:r>
          </a:p>
          <a:p>
            <a:pPr>
              <a:spcBef>
                <a:spcPts val="400"/>
              </a:spcBef>
              <a:defRPr sz="1100">
                <a:solidFill>
                  <a:srgbClr val="0F172A"/>
                </a:solidFill>
              </a:defRPr>
            </a:pPr>
            <a:r>
              <a:t>• V_CUSTOMER_BALANCE: Lifetime billed vs. paid balance</a:t>
            </a:r>
          </a:p>
          <a:p>
            <a:pPr>
              <a:spcBef>
                <a:spcPts val="400"/>
              </a:spcBef>
              <a:defRPr sz="1100">
                <a:solidFill>
                  <a:srgbClr val="0F172A"/>
                </a:solidFill>
              </a:defRPr>
            </a:pPr>
            <a:r>
              <a:t>• V_MONTHLY_REVENUE: Monthly fiscal plan breakdown</a:t>
            </a:r>
          </a:p>
          <a:p>
            <a:pPr>
              <a:spcBef>
                <a:spcPts val="400"/>
              </a:spcBef>
              <a:defRPr sz="1100">
                <a:solidFill>
                  <a:srgbClr val="0F172A"/>
                </a:solidFill>
              </a:defRPr>
            </a:pPr>
            <a:r>
              <a:t>• V_TECHNICIAN_WORKLOAD: Real-time ticket dispatch status</a:t>
            </a:r>
          </a:p>
          <a:p>
            <a:pPr>
              <a:spcBef>
                <a:spcPts val="400"/>
              </a:spcBef>
              <a:defRPr sz="1100">
                <a:solidFill>
                  <a:srgbClr val="0F172A"/>
                </a:solidFill>
              </a:defRPr>
            </a:pPr>
            <a:r>
              <a:t>• V_DATA_USAGE_SUMMARY: Quota consumption &amp; FUP</a:t>
            </a:r>
          </a:p>
        </p:txBody>
      </p:sp>
      <p:sp>
        <p:nvSpPr>
          <p:cNvPr id="12" name="Rectangle 11"/>
          <p:cNvSpPr/>
          <p:nvPr/>
        </p:nvSpPr>
        <p:spPr>
          <a:xfrm>
            <a:off x="731520" y="62179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6291072"/>
            <a:ext cx="9601200" cy="365760"/>
          </a:xfrm>
          <a:prstGeom prst="rect">
            <a:avLst/>
          </a:prstGeom>
          <a:noFill/>
        </p:spPr>
        <p:txBody>
          <a:bodyPr wrap="square" lIns="0" rIns="0" tIns="0" bIns="0">
            <a:spAutoFit/>
          </a:bodyPr>
          <a:lstStyle/>
          <a:p>
            <a:r>
              <a:rPr b="1" sz="1300">
                <a:solidFill>
                  <a:srgbClr val="0EA5E9"/>
                </a:solidFill>
                <a:latin typeface="Segoe UI"/>
              </a:rPr>
              <a:t>KEY TAKEAWAY: </a:t>
            </a:r>
            <a:r>
              <a:rPr b="0" sz="1300">
                <a:solidFill>
                  <a:srgbClr val="64748B"/>
                </a:solidFill>
                <a:latin typeface="Segoe UI"/>
              </a:rPr>
              <a:t>3NF structure eliminates data redundancy while composite indexes deliver instant analytical queries.</a:t>
            </a:r>
          </a:p>
        </p:txBody>
      </p:sp>
      <p:sp>
        <p:nvSpPr>
          <p:cNvPr id="14" name="TextBox 13"/>
          <p:cNvSpPr txBox="1"/>
          <p:nvPr/>
        </p:nvSpPr>
        <p:spPr>
          <a:xfrm>
            <a:off x="10515600" y="6291072"/>
            <a:ext cx="914400" cy="365760"/>
          </a:xfrm>
          <a:prstGeom prst="rect">
            <a:avLst/>
          </a:prstGeom>
          <a:noFill/>
        </p:spPr>
        <p:txBody>
          <a:bodyPr wrap="none" lIns="0" rIns="0" tIns="0" bIns="0">
            <a:spAutoFit/>
          </a:bodyPr>
          <a:lstStyle/>
          <a:p>
            <a:pPr algn="r">
              <a:defRPr b="1" sz="1300">
                <a:solidFill>
                  <a:srgbClr val="64748B"/>
                </a:solidFill>
                <a:latin typeface="Segoe UI"/>
              </a:defRPr>
            </a:pPr>
            <a:r>
              <a:t>3 / 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292608"/>
          </a:xfrm>
          <a:prstGeom prst="rect">
            <a:avLst/>
          </a:prstGeom>
          <a:noFill/>
        </p:spPr>
        <p:txBody>
          <a:bodyPr wrap="square" lIns="0" rIns="0" tIns="0" bIns="0">
            <a:spAutoFit/>
          </a:bodyPr>
          <a:lstStyle/>
          <a:p>
            <a:pPr>
              <a:defRPr sz="1100" b="1">
                <a:solidFill>
                  <a:srgbClr val="0EA5E9"/>
                </a:solidFill>
                <a:latin typeface="Segoe UI"/>
              </a:defRPr>
            </a:pPr>
            <a:r>
              <a:t>DATABASE ENGINE LOGIC</a:t>
            </a:r>
          </a:p>
        </p:txBody>
      </p:sp>
      <p:sp>
        <p:nvSpPr>
          <p:cNvPr id="4" name="TextBox 3"/>
          <p:cNvSpPr txBox="1"/>
          <p:nvPr/>
        </p:nvSpPr>
        <p:spPr>
          <a:xfrm>
            <a:off x="731520" y="658368"/>
            <a:ext cx="10515600" cy="594360"/>
          </a:xfrm>
          <a:prstGeom prst="rect">
            <a:avLst/>
          </a:prstGeom>
          <a:noFill/>
        </p:spPr>
        <p:txBody>
          <a:bodyPr wrap="square" lIns="0" rIns="0" tIns="0" bIns="0">
            <a:spAutoFit/>
          </a:bodyPr>
          <a:lstStyle/>
          <a:p>
            <a:pPr>
              <a:defRPr sz="2800" b="1">
                <a:solidFill>
                  <a:srgbClr val="0F172A"/>
                </a:solidFill>
                <a:latin typeface="Segoe UI"/>
              </a:defRPr>
            </a:pPr>
            <a:r>
              <a:t>PL/SQL Package: PKG_BILLING &amp; Concurrency Control</a:t>
            </a:r>
          </a:p>
        </p:txBody>
      </p:sp>
      <p:sp>
        <p:nvSpPr>
          <p:cNvPr id="5" name="Rounded Rectangle 4"/>
          <p:cNvSpPr/>
          <p:nvPr/>
        </p:nvSpPr>
        <p:spPr>
          <a:xfrm>
            <a:off x="731520" y="1371600"/>
            <a:ext cx="5120640" cy="4617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defRPr b="1" sz="1300">
                <a:solidFill>
                  <a:srgbClr val="0EA5E9"/>
                </a:solidFill>
              </a:defRPr>
            </a:pPr>
            <a:r>
              <a:t>CORE PACKAGE PROCEDURES &amp; FUNCTIONS</a:t>
            </a:r>
          </a:p>
          <a:p>
            <a:pPr>
              <a:spcBef>
                <a:spcPts val="800"/>
              </a:spcBef>
              <a:defRPr b="1" sz="1200">
                <a:solidFill>
                  <a:srgbClr val="0F172A"/>
                </a:solidFill>
              </a:defRPr>
            </a:pPr>
            <a:r>
              <a:t>• sp_record_payment()</a:t>
            </a:r>
          </a:p>
          <a:p>
            <a:pPr>
              <a:defRPr sz="1100">
                <a:solidFill>
                  <a:srgbClr val="64748B"/>
                </a:solidFill>
              </a:defRPr>
            </a:pPr>
            <a:r>
              <a:t>Applies pessimistic row lock (FOR UPDATE NOWAIT) on invoice, inserts payment ledger record, and auto-updates status.</a:t>
            </a:r>
          </a:p>
          <a:p>
            <a:pPr>
              <a:spcBef>
                <a:spcPts val="800"/>
              </a:spcBef>
              <a:defRPr b="1" sz="1200">
                <a:solidFill>
                  <a:srgbClr val="0F172A"/>
                </a:solidFill>
              </a:defRPr>
            </a:pPr>
            <a:r>
              <a:t>• sp_generate_monthly_invoices()</a:t>
            </a:r>
          </a:p>
          <a:p>
            <a:pPr>
              <a:defRPr sz="1100">
                <a:solidFill>
                  <a:srgbClr val="64748B"/>
                </a:solidFill>
              </a:defRPr>
            </a:pPr>
            <a:r>
              <a:t>Batch generates monthly recurring invoices for active subscriptions with automatic 18% GST calculation.</a:t>
            </a:r>
          </a:p>
          <a:p>
            <a:pPr>
              <a:spcBef>
                <a:spcPts val="800"/>
              </a:spcBef>
              <a:defRPr b="1" sz="1200">
                <a:solidFill>
                  <a:srgbClr val="0F172A"/>
                </a:solidFill>
              </a:defRPr>
            </a:pPr>
            <a:r>
              <a:t>• sp_suspend_overdue_accounts()</a:t>
            </a:r>
          </a:p>
          <a:p>
            <a:pPr>
              <a:defRPr sz="1100">
                <a:solidFill>
                  <a:srgbClr val="64748B"/>
                </a:solidFill>
              </a:defRPr>
            </a:pPr>
            <a:r>
              <a:t>Automatically flags 30+ day delinquent accounts and suspends active subscriptions to eliminate risk.</a:t>
            </a:r>
          </a:p>
          <a:p>
            <a:pPr>
              <a:spcBef>
                <a:spcPts val="800"/>
              </a:spcBef>
              <a:defRPr b="1" sz="1200">
                <a:solidFill>
                  <a:srgbClr val="0F172A"/>
                </a:solidFill>
              </a:defRPr>
            </a:pPr>
            <a:r>
              <a:t>• fn_calculate_late_fee()</a:t>
            </a:r>
          </a:p>
          <a:p>
            <a:pPr>
              <a:defRPr sz="1100">
                <a:solidFill>
                  <a:srgbClr val="64748B"/>
                </a:solidFill>
              </a:defRPr>
            </a:pPr>
            <a:r>
              <a:t>Deterministic function applying a 2% compound overdue fee penalty per overdue billing cycle.</a:t>
            </a:r>
          </a:p>
        </p:txBody>
      </p:sp>
      <p:sp>
        <p:nvSpPr>
          <p:cNvPr id="6" name="Rounded Rectangle 5"/>
          <p:cNvSpPr/>
          <p:nvPr/>
        </p:nvSpPr>
        <p:spPr>
          <a:xfrm>
            <a:off x="6217920" y="1371600"/>
            <a:ext cx="5212080" cy="2834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01168" tIns="201168"/>
          <a:lstStyle/>
          <a:p>
            <a:pPr algn="ctr">
              <a:defRPr b="1" sz="1300">
                <a:solidFill>
                  <a:srgbClr val="0EA5E9"/>
                </a:solidFill>
              </a:defRPr>
            </a:pPr>
            <a:r>
              <a:t>SAFE PAYMENT TRANSACTION PIPELINE</a:t>
            </a:r>
          </a:p>
          <a:p>
            <a:pPr>
              <a:spcBef>
                <a:spcPts val="600"/>
              </a:spcBef>
              <a:defRPr b="1" sz="1150">
                <a:solidFill>
                  <a:srgbClr val="22C55E"/>
                </a:solidFill>
              </a:defRPr>
            </a:pPr>
            <a:r>
              <a:t>✔ Step 1: Lock Invoice Row</a:t>
            </a:r>
          </a:p>
          <a:p>
            <a:pPr>
              <a:defRPr sz="1050">
                <a:solidFill>
                  <a:srgbClr val="64748B"/>
                </a:solidFill>
              </a:defRPr>
            </a:pPr>
            <a:r>
              <a:t>Pessimistic lock (FOR UPDATE NOWAIT) prevents double payments.</a:t>
            </a:r>
          </a:p>
          <a:p>
            <a:pPr>
              <a:spcBef>
                <a:spcPts val="600"/>
              </a:spcBef>
              <a:defRPr b="1" sz="1150">
                <a:solidFill>
                  <a:srgbClr val="22C55E"/>
                </a:solidFill>
              </a:defRPr>
            </a:pPr>
            <a:r>
              <a:t>✔ Step 2: Ledger Insertion</a:t>
            </a:r>
          </a:p>
          <a:p>
            <a:pPr>
              <a:defRPr sz="1050">
                <a:solidFill>
                  <a:srgbClr val="64748B"/>
                </a:solidFill>
              </a:defRPr>
            </a:pPr>
            <a:r>
              <a:t>Inserts payment audit entry with timestamp &amp; transaction mode.</a:t>
            </a:r>
          </a:p>
          <a:p>
            <a:pPr>
              <a:spcBef>
                <a:spcPts val="600"/>
              </a:spcBef>
              <a:defRPr b="1" sz="1150">
                <a:solidFill>
                  <a:srgbClr val="22C55E"/>
                </a:solidFill>
              </a:defRPr>
            </a:pPr>
            <a:r>
              <a:t>✔ Step 3: Status Transition</a:t>
            </a:r>
          </a:p>
          <a:p>
            <a:pPr>
              <a:defRPr sz="1050">
                <a:solidFill>
                  <a:srgbClr val="64748B"/>
                </a:solidFill>
              </a:defRPr>
            </a:pPr>
            <a:r>
              <a:t>Calculates new balance -&gt; status becomes PAID or PARTIALLY_PAID.</a:t>
            </a:r>
          </a:p>
        </p:txBody>
      </p:sp>
      <p:sp>
        <p:nvSpPr>
          <p:cNvPr id="7" name="Rounded Rectangle 6"/>
          <p:cNvSpPr/>
          <p:nvPr/>
        </p:nvSpPr>
        <p:spPr>
          <a:xfrm>
            <a:off x="6217920" y="4343400"/>
            <a:ext cx="5212080" cy="164592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000">
                <a:solidFill>
                  <a:srgbClr val="0EA5E9"/>
                </a:solidFill>
                <a:latin typeface="Consolas"/>
              </a:defRPr>
            </a:pPr>
            <a:r>
              <a:t>-- Pessimistic Row Locking in sp_record_payment</a:t>
            </a:r>
          </a:p>
          <a:p>
            <a:pPr>
              <a:defRPr sz="1000">
                <a:solidFill>
                  <a:srgbClr val="E2E8F0"/>
                </a:solidFill>
                <a:latin typeface="Consolas"/>
              </a:defRPr>
            </a:pPr>
            <a:r>
              <a:t>SELECT total_amount, amount_paid INTO v_total, v_paid</a:t>
            </a:r>
          </a:p>
          <a:p>
            <a:pPr>
              <a:defRPr sz="1000">
                <a:solidFill>
                  <a:srgbClr val="E2E8F0"/>
                </a:solidFill>
                <a:latin typeface="Consolas"/>
              </a:defRPr>
            </a:pPr>
            <a:r>
              <a:t>  FROM invoice WHERE invoice_id = p_invoice_id</a:t>
            </a:r>
          </a:p>
          <a:p>
            <a:pPr>
              <a:defRPr sz="1000">
                <a:solidFill>
                  <a:srgbClr val="0EA5E9"/>
                </a:solidFill>
                <a:latin typeface="Consolas"/>
              </a:defRPr>
            </a:pPr>
            <a:r>
              <a:t> FOR UPDATE NOWAIT;</a:t>
            </a:r>
          </a:p>
        </p:txBody>
      </p:sp>
      <p:sp>
        <p:nvSpPr>
          <p:cNvPr id="8" name="Rectangle 7"/>
          <p:cNvSpPr/>
          <p:nvPr/>
        </p:nvSpPr>
        <p:spPr>
          <a:xfrm>
            <a:off x="731520" y="62179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91072"/>
            <a:ext cx="9601200" cy="365760"/>
          </a:xfrm>
          <a:prstGeom prst="rect">
            <a:avLst/>
          </a:prstGeom>
          <a:noFill/>
        </p:spPr>
        <p:txBody>
          <a:bodyPr wrap="square" lIns="0" rIns="0" tIns="0" bIns="0">
            <a:spAutoFit/>
          </a:bodyPr>
          <a:lstStyle/>
          <a:p>
            <a:r>
              <a:rPr b="1" sz="1300">
                <a:solidFill>
                  <a:srgbClr val="0EA5E9"/>
                </a:solidFill>
                <a:latin typeface="Segoe UI"/>
              </a:rPr>
              <a:t>KEY TAKEAWAY: </a:t>
            </a:r>
            <a:r>
              <a:rPr b="0" sz="1300">
                <a:solidFill>
                  <a:srgbClr val="64748B"/>
                </a:solidFill>
                <a:latin typeface="Segoe UI"/>
              </a:rPr>
              <a:t>PL/SQL pessimistic row locking prevents payment race conditions and guarantees financial accuracy.</a:t>
            </a:r>
          </a:p>
        </p:txBody>
      </p:sp>
      <p:sp>
        <p:nvSpPr>
          <p:cNvPr id="10" name="TextBox 9"/>
          <p:cNvSpPr txBox="1"/>
          <p:nvPr/>
        </p:nvSpPr>
        <p:spPr>
          <a:xfrm>
            <a:off x="10515600" y="6291072"/>
            <a:ext cx="914400" cy="365760"/>
          </a:xfrm>
          <a:prstGeom prst="rect">
            <a:avLst/>
          </a:prstGeom>
          <a:noFill/>
        </p:spPr>
        <p:txBody>
          <a:bodyPr wrap="none" lIns="0" rIns="0" tIns="0" bIns="0">
            <a:spAutoFit/>
          </a:bodyPr>
          <a:lstStyle/>
          <a:p>
            <a:pPr algn="r">
              <a:defRPr b="1" sz="1300">
                <a:solidFill>
                  <a:srgbClr val="64748B"/>
                </a:solidFill>
                <a:latin typeface="Segoe UI"/>
              </a:defRPr>
            </a:pPr>
            <a:r>
              <a:t>4 / 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292608"/>
          </a:xfrm>
          <a:prstGeom prst="rect">
            <a:avLst/>
          </a:prstGeom>
          <a:noFill/>
        </p:spPr>
        <p:txBody>
          <a:bodyPr wrap="square" lIns="0" rIns="0" tIns="0" bIns="0">
            <a:spAutoFit/>
          </a:bodyPr>
          <a:lstStyle/>
          <a:p>
            <a:pPr>
              <a:defRPr sz="1100" b="1">
                <a:solidFill>
                  <a:srgbClr val="0EA5E9"/>
                </a:solidFill>
                <a:latin typeface="Segoe UI"/>
              </a:defRPr>
            </a:pPr>
            <a:r>
              <a:t>DATABASE INTEGRITY &amp; EVENT AUTOMATION</a:t>
            </a:r>
          </a:p>
        </p:txBody>
      </p:sp>
      <p:sp>
        <p:nvSpPr>
          <p:cNvPr id="4" name="TextBox 3"/>
          <p:cNvSpPr txBox="1"/>
          <p:nvPr/>
        </p:nvSpPr>
        <p:spPr>
          <a:xfrm>
            <a:off x="731520" y="658368"/>
            <a:ext cx="10515600" cy="594360"/>
          </a:xfrm>
          <a:prstGeom prst="rect">
            <a:avLst/>
          </a:prstGeom>
          <a:noFill/>
        </p:spPr>
        <p:txBody>
          <a:bodyPr wrap="square" lIns="0" rIns="0" tIns="0" bIns="0">
            <a:spAutoFit/>
          </a:bodyPr>
          <a:lstStyle/>
          <a:p>
            <a:pPr>
              <a:defRPr sz="2800" b="1">
                <a:solidFill>
                  <a:srgbClr val="0F172A"/>
                </a:solidFill>
                <a:latin typeface="Segoe UI"/>
              </a:defRPr>
            </a:pPr>
            <a:r>
              <a:t>Compound Triggers &amp; Non-Repudiation Auditing</a:t>
            </a:r>
          </a:p>
        </p:txBody>
      </p:sp>
      <p:sp>
        <p:nvSpPr>
          <p:cNvPr id="5" name="Rounded Rectangle 4"/>
          <p:cNvSpPr/>
          <p:nvPr/>
        </p:nvSpPr>
        <p:spPr>
          <a:xfrm>
            <a:off x="731520" y="1371600"/>
            <a:ext cx="5120640" cy="2834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300">
                <a:solidFill>
                  <a:srgbClr val="0EA5E9"/>
                </a:solidFill>
              </a:defRPr>
            </a:pPr>
            <a:r>
              <a:t>MUTATING TABLE PROBLEM &amp; SOLUTION</a:t>
            </a:r>
          </a:p>
          <a:p>
            <a:pPr>
              <a:spcBef>
                <a:spcPts val="400"/>
              </a:spcBef>
              <a:defRPr b="1" sz="1100">
                <a:solidFill>
                  <a:srgbClr val="EF4444"/>
                </a:solidFill>
              </a:defRPr>
            </a:pPr>
            <a:r>
              <a:t>• The ORA-04091 Anomaly:</a:t>
            </a:r>
          </a:p>
          <a:p>
            <a:pPr>
              <a:defRPr sz="1000">
                <a:solidFill>
                  <a:srgbClr val="0F172A"/>
                </a:solidFill>
              </a:defRPr>
            </a:pPr>
            <a:r>
              <a:t>If a row trigger queries the table being modified, Oracle throws ORA-04091: table is mutating (like inspecting an engine while driving).</a:t>
            </a:r>
          </a:p>
          <a:p>
            <a:pPr>
              <a:spcBef>
                <a:spcPts val="400"/>
              </a:spcBef>
              <a:defRPr b="1" sz="1100">
                <a:solidFill>
                  <a:srgbClr val="22C55E"/>
                </a:solidFill>
              </a:defRPr>
            </a:pPr>
            <a:r>
              <a:t>• The Compound Trigger Solution:</a:t>
            </a:r>
          </a:p>
          <a:p>
            <a:pPr>
              <a:defRPr sz="1000">
                <a:solidFill>
                  <a:srgbClr val="0F172A"/>
                </a:solidFill>
              </a:defRPr>
            </a:pPr>
            <a:r>
              <a:t>trg_invoice_status_compound separates execution into two safe phases:</a:t>
            </a:r>
            <a:br/>
            <a:r>
              <a:t>1. Row-Level: Collects modified IDs in memory array.</a:t>
            </a:r>
            <a:br/>
            <a:r>
              <a:t>2. AFTER STATEMENT: Safely evaluates statuses.</a:t>
            </a:r>
          </a:p>
        </p:txBody>
      </p:sp>
      <p:sp>
        <p:nvSpPr>
          <p:cNvPr id="6" name="Rounded Rectangle 5"/>
          <p:cNvSpPr/>
          <p:nvPr/>
        </p:nvSpPr>
        <p:spPr>
          <a:xfrm>
            <a:off x="731520" y="4343400"/>
            <a:ext cx="5120640" cy="164592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a:lstStyle/>
          <a:p>
            <a:pPr algn="ctr">
              <a:defRPr sz="950">
                <a:solidFill>
                  <a:srgbClr val="0EA5E9"/>
                </a:solidFill>
                <a:latin typeface="Consolas"/>
              </a:defRPr>
            </a:pPr>
            <a:r>
              <a:t>FOR EACH ROW -- Phase 1: In-memory collection</a:t>
            </a:r>
          </a:p>
          <a:p>
            <a:pPr>
              <a:defRPr sz="950">
                <a:solidFill>
                  <a:srgbClr val="E2E8F0"/>
                </a:solidFill>
                <a:latin typeface="Consolas"/>
              </a:defRPr>
            </a:pPr>
            <a:r>
              <a:t>  g_invoice_ids.EXTEND; g_invoice_ids(LAST) := :NEW.invoice_id;</a:t>
            </a:r>
          </a:p>
          <a:p>
            <a:pPr>
              <a:defRPr sz="950">
                <a:solidFill>
                  <a:srgbClr val="0EA5E9"/>
                </a:solidFill>
                <a:latin typeface="Consolas"/>
              </a:defRPr>
            </a:pPr>
            <a:r>
              <a:t>AFTER STATEMENT -- Phase 2: Safe execution</a:t>
            </a:r>
          </a:p>
          <a:p>
            <a:pPr>
              <a:defRPr sz="950">
                <a:solidFill>
                  <a:srgbClr val="E2E8F0"/>
                </a:solidFill>
                <a:latin typeface="Consolas"/>
              </a:defRPr>
            </a:pPr>
            <a:r>
              <a:t>  UPDATE invoice ... WHERE invoice_id IN (SELECT ...);</a:t>
            </a:r>
          </a:p>
        </p:txBody>
      </p:sp>
      <p:sp>
        <p:nvSpPr>
          <p:cNvPr id="7" name="Rounded Rectangle 6"/>
          <p:cNvSpPr/>
          <p:nvPr/>
        </p:nvSpPr>
        <p:spPr>
          <a:xfrm>
            <a:off x="6217920" y="1371600"/>
            <a:ext cx="5212080" cy="28346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300">
                <a:solidFill>
                  <a:srgbClr val="0EA5E9"/>
                </a:solidFill>
              </a:defRPr>
            </a:pPr>
            <a:r>
              <a:t>IMMUTABLE AUDIT TRAIL (AUDIT_LOG)</a:t>
            </a:r>
          </a:p>
          <a:p>
            <a:pPr>
              <a:spcBef>
                <a:spcPts val="500"/>
              </a:spcBef>
              <a:defRPr b="1" sz="1100">
                <a:solidFill>
                  <a:srgbClr val="0F172A"/>
                </a:solidFill>
              </a:defRPr>
            </a:pPr>
            <a:r>
              <a:t>✔ Automated Event Capture</a:t>
            </a:r>
          </a:p>
          <a:p>
            <a:pPr>
              <a:defRPr sz="1000">
                <a:solidFill>
                  <a:srgbClr val="64748B"/>
                </a:solidFill>
              </a:defRPr>
            </a:pPr>
            <a:r>
              <a:t>Triggers trg_customer_audit and trg_payment_audit automatically record all DML events.</a:t>
            </a:r>
          </a:p>
          <a:p>
            <a:pPr>
              <a:spcBef>
                <a:spcPts val="500"/>
              </a:spcBef>
              <a:defRPr b="1" sz="1100">
                <a:solidFill>
                  <a:srgbClr val="0F172A"/>
                </a:solidFill>
              </a:defRPr>
            </a:pPr>
            <a:r>
              <a:t>✔ Pre &amp; Post JSON Snapshots</a:t>
            </a:r>
          </a:p>
          <a:p>
            <a:pPr>
              <a:defRPr sz="1000">
                <a:solidFill>
                  <a:srgbClr val="64748B"/>
                </a:solidFill>
              </a:defRPr>
            </a:pPr>
            <a:r>
              <a:t>Stores :OLD and :NEW row states as structured JSON strings for non-repudiation.</a:t>
            </a:r>
          </a:p>
          <a:p>
            <a:pPr>
              <a:spcBef>
                <a:spcPts val="500"/>
              </a:spcBef>
              <a:defRPr b="1" sz="1100">
                <a:solidFill>
                  <a:srgbClr val="0F172A"/>
                </a:solidFill>
              </a:defRPr>
            </a:pPr>
            <a:r>
              <a:t>✔ Regulatory Compliance</a:t>
            </a:r>
          </a:p>
          <a:p>
            <a:pPr>
              <a:defRPr sz="1000">
                <a:solidFill>
                  <a:srgbClr val="64748B"/>
                </a:solidFill>
              </a:defRPr>
            </a:pPr>
            <a:r>
              <a:t>Audit logs are strictly write-only, meeting enterprise compliance standards.</a:t>
            </a:r>
          </a:p>
        </p:txBody>
      </p:sp>
      <p:sp>
        <p:nvSpPr>
          <p:cNvPr id="8" name="Rounded Rectangle 7"/>
          <p:cNvSpPr/>
          <p:nvPr/>
        </p:nvSpPr>
        <p:spPr>
          <a:xfrm>
            <a:off x="6217920" y="4343400"/>
            <a:ext cx="5212080" cy="1645920"/>
          </a:xfrm>
          <a:prstGeom prst="roundRect">
            <a:avLst/>
          </a:prstGeom>
          <a:solidFill>
            <a:srgbClr val="0F172A"/>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a:lstStyle/>
          <a:p>
            <a:pPr algn="ctr">
              <a:defRPr sz="950">
                <a:solidFill>
                  <a:srgbClr val="0EA5E9"/>
                </a:solidFill>
                <a:latin typeface="Consolas"/>
              </a:defRPr>
            </a:pPr>
            <a:r>
              <a:t>-- Sample AUDIT_LOG Change Capture</a:t>
            </a:r>
          </a:p>
          <a:p>
            <a:pPr>
              <a:defRPr sz="950">
                <a:solidFill>
                  <a:srgbClr val="E2E8F0"/>
                </a:solidFill>
                <a:latin typeface="Consolas"/>
              </a:defRPr>
            </a:pPr>
            <a:r>
              <a:t>OLD_STATE: {"status": "ACTIVE", "plan_id": 101}</a:t>
            </a:r>
          </a:p>
          <a:p>
            <a:pPr>
              <a:defRPr sz="950">
                <a:solidFill>
                  <a:srgbClr val="E2E8F0"/>
                </a:solidFill>
                <a:latin typeface="Consolas"/>
              </a:defRPr>
            </a:pPr>
            <a:r>
              <a:t>NEW_STATE: {"status": "SUSPENDED", "plan_id": 101}</a:t>
            </a:r>
          </a:p>
          <a:p>
            <a:pPr>
              <a:defRPr sz="950">
                <a:solidFill>
                  <a:srgbClr val="E2E8F0"/>
                </a:solidFill>
                <a:latin typeface="Consolas"/>
              </a:defRPr>
            </a:pPr>
            <a:r>
              <a:t>ACTION: "UPDATE" | USER: "isp_app" | TIMESTAMP</a:t>
            </a:r>
          </a:p>
        </p:txBody>
      </p:sp>
      <p:sp>
        <p:nvSpPr>
          <p:cNvPr id="9" name="Rectangle 8"/>
          <p:cNvSpPr/>
          <p:nvPr/>
        </p:nvSpPr>
        <p:spPr>
          <a:xfrm>
            <a:off x="731520" y="62179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291072"/>
            <a:ext cx="9601200" cy="365760"/>
          </a:xfrm>
          <a:prstGeom prst="rect">
            <a:avLst/>
          </a:prstGeom>
          <a:noFill/>
        </p:spPr>
        <p:txBody>
          <a:bodyPr wrap="square" lIns="0" rIns="0" tIns="0" bIns="0">
            <a:spAutoFit/>
          </a:bodyPr>
          <a:lstStyle/>
          <a:p>
            <a:r>
              <a:rPr b="1" sz="1300">
                <a:solidFill>
                  <a:srgbClr val="0EA5E9"/>
                </a:solidFill>
                <a:latin typeface="Segoe UI"/>
              </a:rPr>
              <a:t>KEY TAKEAWAY: </a:t>
            </a:r>
            <a:r>
              <a:rPr b="0" sz="1300">
                <a:solidFill>
                  <a:srgbClr val="64748B"/>
                </a:solidFill>
                <a:latin typeface="Segoe UI"/>
              </a:rPr>
              <a:t>Compound triggers eliminate mutating-table errors; JSON audit trails ensure full compliance.</a:t>
            </a:r>
          </a:p>
        </p:txBody>
      </p:sp>
      <p:sp>
        <p:nvSpPr>
          <p:cNvPr id="11" name="TextBox 10"/>
          <p:cNvSpPr txBox="1"/>
          <p:nvPr/>
        </p:nvSpPr>
        <p:spPr>
          <a:xfrm>
            <a:off x="10515600" y="6291072"/>
            <a:ext cx="914400" cy="365760"/>
          </a:xfrm>
          <a:prstGeom prst="rect">
            <a:avLst/>
          </a:prstGeom>
          <a:noFill/>
        </p:spPr>
        <p:txBody>
          <a:bodyPr wrap="none" lIns="0" rIns="0" tIns="0" bIns="0">
            <a:spAutoFit/>
          </a:bodyPr>
          <a:lstStyle/>
          <a:p>
            <a:pPr algn="r">
              <a:defRPr b="1" sz="1300">
                <a:solidFill>
                  <a:srgbClr val="64748B"/>
                </a:solidFill>
                <a:latin typeface="Segoe UI"/>
              </a:defRPr>
            </a:pPr>
            <a:r>
              <a:t>5 / 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292608"/>
          </a:xfrm>
          <a:prstGeom prst="rect">
            <a:avLst/>
          </a:prstGeom>
          <a:noFill/>
        </p:spPr>
        <p:txBody>
          <a:bodyPr wrap="square" lIns="0" rIns="0" tIns="0" bIns="0">
            <a:spAutoFit/>
          </a:bodyPr>
          <a:lstStyle/>
          <a:p>
            <a:pPr>
              <a:defRPr sz="1100" b="1">
                <a:solidFill>
                  <a:srgbClr val="0EA5E9"/>
                </a:solidFill>
                <a:latin typeface="Segoe UI"/>
              </a:defRPr>
            </a:pPr>
            <a:r>
              <a:t>SECURITY &amp; APPLICATION DESIGN</a:t>
            </a:r>
          </a:p>
        </p:txBody>
      </p:sp>
      <p:sp>
        <p:nvSpPr>
          <p:cNvPr id="4" name="TextBox 3"/>
          <p:cNvSpPr txBox="1"/>
          <p:nvPr/>
        </p:nvSpPr>
        <p:spPr>
          <a:xfrm>
            <a:off x="731520" y="658368"/>
            <a:ext cx="10515600" cy="594360"/>
          </a:xfrm>
          <a:prstGeom prst="rect">
            <a:avLst/>
          </a:prstGeom>
          <a:noFill/>
        </p:spPr>
        <p:txBody>
          <a:bodyPr wrap="square" lIns="0" rIns="0" tIns="0" bIns="0">
            <a:spAutoFit/>
          </a:bodyPr>
          <a:lstStyle/>
          <a:p>
            <a:pPr>
              <a:defRPr sz="2800" b="1">
                <a:solidFill>
                  <a:srgbClr val="0F172A"/>
                </a:solidFill>
                <a:latin typeface="Segoe UI"/>
              </a:defRPr>
            </a:pPr>
            <a:r>
              <a:t>Database Security &amp; Multithreaded JavaFX Client</a:t>
            </a:r>
          </a:p>
        </p:txBody>
      </p:sp>
      <p:sp>
        <p:nvSpPr>
          <p:cNvPr id="5" name="Rounded Rectangle 4"/>
          <p:cNvSpPr/>
          <p:nvPr/>
        </p:nvSpPr>
        <p:spPr>
          <a:xfrm>
            <a:off x="731520" y="1371600"/>
            <a:ext cx="5120640" cy="26517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b="1" sz="1300">
                <a:solidFill>
                  <a:srgbClr val="0EA5E9"/>
                </a:solidFill>
              </a:defRPr>
            </a:pPr>
            <a:r>
              <a:t>DEFENSE-IN-DEPTH SECURITY</a:t>
            </a:r>
          </a:p>
          <a:p>
            <a:pPr>
              <a:spcBef>
                <a:spcPts val="400"/>
              </a:spcBef>
              <a:defRPr b="1" sz="1100">
                <a:solidFill>
                  <a:srgbClr val="0F172A"/>
                </a:solidFill>
              </a:defRPr>
            </a:pPr>
            <a:r>
              <a:t>✔ jBCrypt Password Hashing</a:t>
            </a:r>
          </a:p>
          <a:p>
            <a:pPr>
              <a:defRPr sz="1000">
                <a:solidFill>
                  <a:srgbClr val="64748B"/>
                </a:solidFill>
              </a:defRPr>
            </a:pPr>
            <a:r>
              <a:t>Adaptive cost factor 12 salted hashing protects credentials in APP_USER from rainbow tables.</a:t>
            </a:r>
          </a:p>
          <a:p>
            <a:pPr>
              <a:spcBef>
                <a:spcPts val="400"/>
              </a:spcBef>
              <a:defRPr b="1" sz="1100">
                <a:solidFill>
                  <a:srgbClr val="0F172A"/>
                </a:solidFill>
              </a:defRPr>
            </a:pPr>
            <a:r>
              <a:t>✔ Oracle Security Profile</a:t>
            </a:r>
          </a:p>
          <a:p>
            <a:pPr>
              <a:defRPr sz="1000">
                <a:solidFill>
                  <a:srgbClr val="64748B"/>
                </a:solidFill>
              </a:defRPr>
            </a:pPr>
            <a:r>
              <a:t>isp_app_profile locks accounts after 5 failed logins with 90-day password expiration.</a:t>
            </a:r>
          </a:p>
          <a:p>
            <a:pPr>
              <a:spcBef>
                <a:spcPts val="400"/>
              </a:spcBef>
              <a:defRPr b="1" sz="1100">
                <a:solidFill>
                  <a:srgbClr val="0F172A"/>
                </a:solidFill>
              </a:defRPr>
            </a:pPr>
            <a:r>
              <a:t>✔ Least Privilege Role</a:t>
            </a:r>
          </a:p>
          <a:p>
            <a:pPr>
              <a:defRPr sz="1000">
                <a:solidFill>
                  <a:srgbClr val="64748B"/>
                </a:solidFill>
              </a:defRPr>
            </a:pPr>
            <a:r>
              <a:t>isp_readonly_role restricts analytical reporting tools from executing write operations.</a:t>
            </a:r>
          </a:p>
        </p:txBody>
      </p:sp>
      <p:graphicFrame>
        <p:nvGraphicFramePr>
          <p:cNvPr id="6" name="Table 5"/>
          <p:cNvGraphicFramePr>
            <a:graphicFrameLocks noGrp="1"/>
          </p:cNvGraphicFramePr>
          <p:nvPr/>
        </p:nvGraphicFramePr>
        <p:xfrm>
          <a:off x="731520" y="4160520"/>
          <a:ext cx="5120640" cy="1828800"/>
        </p:xfrm>
        <a:graphic>
          <a:graphicData uri="http://schemas.openxmlformats.org/drawingml/2006/table">
            <a:tbl>
              <a:tblPr firstRow="1" bandRow="1">
                <a:tableStyleId>{5C22544A-7EE6-4342-B048-85BDC9FD1C3A}</a:tableStyleId>
              </a:tblPr>
              <a:tblGrid>
                <a:gridCol w="1645920"/>
                <a:gridCol w="3474720"/>
              </a:tblGrid>
              <a:tr h="365760">
                <a:tc>
                  <a:txBody>
                    <a:bodyPr/>
                    <a:lstStyle/>
                    <a:p>
                      <a:pPr>
                        <a:defRPr b="1" sz="1000">
                          <a:solidFill>
                            <a:srgbClr val="F1F5F9"/>
                          </a:solidFill>
                          <a:latin typeface="Segoe UI"/>
                        </a:defRPr>
                      </a:pPr>
                      <a:r>
                        <a:t>System Role (RBAC)</a:t>
                      </a:r>
                    </a:p>
                  </a:txBody>
                  <a:tcPr>
                    <a:solidFill>
                      <a:srgbClr val="0F172A"/>
                    </a:solidFill>
                  </a:tcPr>
                </a:tc>
                <a:tc>
                  <a:txBody>
                    <a:bodyPr/>
                    <a:lstStyle/>
                    <a:p>
                      <a:pPr>
                        <a:defRPr b="1" sz="1000">
                          <a:solidFill>
                            <a:srgbClr val="F1F5F9"/>
                          </a:solidFill>
                          <a:latin typeface="Segoe UI"/>
                        </a:defRPr>
                      </a:pPr>
                      <a:r>
                        <a:t>Authorized Application Modules</a:t>
                      </a:r>
                    </a:p>
                  </a:txBody>
                  <a:tcPr>
                    <a:solidFill>
                      <a:srgbClr val="0F172A"/>
                    </a:solidFill>
                  </a:tcPr>
                </a:tc>
              </a:tr>
              <a:tr h="365760">
                <a:tc>
                  <a:txBody>
                    <a:bodyPr/>
                    <a:lstStyle/>
                    <a:p>
                      <a:pPr>
                        <a:defRPr sz="950">
                          <a:solidFill>
                            <a:srgbClr val="0F172A"/>
                          </a:solidFill>
                          <a:latin typeface="Segoe UI"/>
                        </a:defRPr>
                      </a:pPr>
                      <a:r>
                        <a:t>ADMIN</a:t>
                      </a:r>
                    </a:p>
                  </a:txBody>
                  <a:tcPr>
                    <a:solidFill>
                      <a:srgbClr val="FFFFFF"/>
                    </a:solidFill>
                  </a:tcPr>
                </a:tc>
                <a:tc>
                  <a:txBody>
                    <a:bodyPr/>
                    <a:lstStyle/>
                    <a:p>
                      <a:pPr>
                        <a:defRPr sz="950">
                          <a:solidFill>
                            <a:srgbClr val="0F172A"/>
                          </a:solidFill>
                          <a:latin typeface="Segoe UI"/>
                        </a:defRPr>
                      </a:pPr>
                      <a:r>
                        <a:t>Full Access: All 7 Modules &amp; Configuration</a:t>
                      </a:r>
                    </a:p>
                  </a:txBody>
                  <a:tcPr>
                    <a:solidFill>
                      <a:srgbClr val="FFFFFF"/>
                    </a:solidFill>
                  </a:tcPr>
                </a:tc>
              </a:tr>
              <a:tr h="365760">
                <a:tc>
                  <a:txBody>
                    <a:bodyPr/>
                    <a:lstStyle/>
                    <a:p>
                      <a:pPr>
                        <a:defRPr sz="950">
                          <a:solidFill>
                            <a:srgbClr val="0F172A"/>
                          </a:solidFill>
                          <a:latin typeface="Segoe UI"/>
                        </a:defRPr>
                      </a:pPr>
                      <a:r>
                        <a:t>BILLING_CLERK</a:t>
                      </a:r>
                    </a:p>
                  </a:txBody>
                  <a:tcPr>
                    <a:solidFill>
                      <a:srgbClr val="F1F5F9"/>
                    </a:solidFill>
                  </a:tcPr>
                </a:tc>
                <a:tc>
                  <a:txBody>
                    <a:bodyPr/>
                    <a:lstStyle/>
                    <a:p>
                      <a:pPr>
                        <a:defRPr sz="950">
                          <a:solidFill>
                            <a:srgbClr val="0F172A"/>
                          </a:solidFill>
                          <a:latin typeface="Segoe UI"/>
                        </a:defRPr>
                      </a:pPr>
                      <a:r>
                        <a:t>Billing, Payments, Invoices, Customer Lookup</a:t>
                      </a:r>
                    </a:p>
                  </a:txBody>
                  <a:tcPr>
                    <a:solidFill>
                      <a:srgbClr val="F1F5F9"/>
                    </a:solidFill>
                  </a:tcPr>
                </a:tc>
              </a:tr>
              <a:tr h="365760">
                <a:tc>
                  <a:txBody>
                    <a:bodyPr/>
                    <a:lstStyle/>
                    <a:p>
                      <a:pPr>
                        <a:defRPr sz="950">
                          <a:solidFill>
                            <a:srgbClr val="0F172A"/>
                          </a:solidFill>
                          <a:latin typeface="Segoe UI"/>
                        </a:defRPr>
                      </a:pPr>
                      <a:r>
                        <a:t>TECHNICIAN</a:t>
                      </a:r>
                    </a:p>
                  </a:txBody>
                  <a:tcPr>
                    <a:solidFill>
                      <a:srgbClr val="FFFFFF"/>
                    </a:solidFill>
                  </a:tcPr>
                </a:tc>
                <a:tc>
                  <a:txBody>
                    <a:bodyPr/>
                    <a:lstStyle/>
                    <a:p>
                      <a:pPr>
                        <a:defRPr sz="950">
                          <a:solidFill>
                            <a:srgbClr val="0F172A"/>
                          </a:solidFill>
                          <a:latin typeface="Segoe UI"/>
                        </a:defRPr>
                      </a:pPr>
                      <a:r>
                        <a:t>Assigned Installations, Hardware, Tech Tickets</a:t>
                      </a:r>
                    </a:p>
                  </a:txBody>
                  <a:tcPr>
                    <a:solidFill>
                      <a:srgbClr val="FFFFFF"/>
                    </a:solidFill>
                  </a:tcPr>
                </a:tc>
              </a:tr>
              <a:tr h="365760">
                <a:tc>
                  <a:txBody>
                    <a:bodyPr/>
                    <a:lstStyle/>
                    <a:p>
                      <a:pPr>
                        <a:defRPr sz="950">
                          <a:solidFill>
                            <a:srgbClr val="0F172A"/>
                          </a:solidFill>
                          <a:latin typeface="Segoe UI"/>
                        </a:defRPr>
                      </a:pPr>
                      <a:r>
                        <a:t>SUPPORT_AGENT</a:t>
                      </a:r>
                    </a:p>
                  </a:txBody>
                  <a:tcPr>
                    <a:solidFill>
                      <a:srgbClr val="F1F5F9"/>
                    </a:solidFill>
                  </a:tcPr>
                </a:tc>
                <a:tc>
                  <a:txBody>
                    <a:bodyPr/>
                    <a:lstStyle/>
                    <a:p>
                      <a:pPr>
                        <a:defRPr sz="950">
                          <a:solidFill>
                            <a:srgbClr val="0F172A"/>
                          </a:solidFill>
                          <a:latin typeface="Segoe UI"/>
                        </a:defRPr>
                      </a:pPr>
                      <a:r>
                        <a:t>Customer Profiles, Ticket Entry, Work Logs</a:t>
                      </a:r>
                    </a:p>
                  </a:txBody>
                  <a:tcPr>
                    <a:solidFill>
                      <a:srgbClr val="F1F5F9"/>
                    </a:solidFill>
                  </a:tcPr>
                </a:tc>
              </a:tr>
            </a:tbl>
          </a:graphicData>
        </a:graphic>
      </p:graphicFrame>
      <p:sp>
        <p:nvSpPr>
          <p:cNvPr id="7" name="Rounded Rectangle 6"/>
          <p:cNvSpPr/>
          <p:nvPr/>
        </p:nvSpPr>
        <p:spPr>
          <a:xfrm>
            <a:off x="6217920" y="1371600"/>
            <a:ext cx="5212080" cy="4617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defRPr b="1" sz="1300">
                <a:solidFill>
                  <a:srgbClr val="0EA5E9"/>
                </a:solidFill>
              </a:defRPr>
            </a:pPr>
            <a:r>
              <a:t>JAVAFX CLIENT ENGINEERING HIGHLIGHTS</a:t>
            </a:r>
          </a:p>
          <a:p>
            <a:pPr>
              <a:spcBef>
                <a:spcPts val="800"/>
              </a:spcBef>
              <a:defRPr b="1" sz="1200">
                <a:solidFill>
                  <a:srgbClr val="0F172A"/>
                </a:solidFill>
              </a:defRPr>
            </a:pPr>
            <a:r>
              <a:t>• Non-Blocking UI Threads</a:t>
            </a:r>
          </a:p>
          <a:p>
            <a:pPr>
              <a:defRPr sz="1100">
                <a:solidFill>
                  <a:srgbClr val="64748B"/>
                </a:solidFill>
              </a:defRPr>
            </a:pPr>
            <a:r>
              <a:t>All SQL operations run in JavaFX Task&lt;T&gt; worker threads. The GUI remains 100% responsive without freeze.</a:t>
            </a:r>
          </a:p>
          <a:p>
            <a:pPr>
              <a:spcBef>
                <a:spcPts val="800"/>
              </a:spcBef>
              <a:defRPr b="1" sz="1200">
                <a:solidFill>
                  <a:srgbClr val="0F172A"/>
                </a:solidFill>
              </a:defRPr>
            </a:pPr>
            <a:r>
              <a:t>• Atomic Multi-Step Wizard</a:t>
            </a:r>
          </a:p>
          <a:p>
            <a:pPr>
              <a:defRPr sz="1100">
                <a:solidFill>
                  <a:srgbClr val="64748B"/>
                </a:solidFill>
              </a:defRPr>
            </a:pPr>
            <a:r>
              <a:t>The subscription provisioning wizard wraps 3 DML operations inside an explicit transaction (commit/rollback).</a:t>
            </a:r>
          </a:p>
          <a:p>
            <a:pPr>
              <a:spcBef>
                <a:spcPts val="800"/>
              </a:spcBef>
              <a:defRPr b="1" sz="1200">
                <a:solidFill>
                  <a:srgbClr val="0F172A"/>
                </a:solidFill>
              </a:defRPr>
            </a:pPr>
            <a:r>
              <a:t>• Oracle Error Trapping</a:t>
            </a:r>
          </a:p>
          <a:p>
            <a:pPr>
              <a:defRPr sz="1100">
                <a:solidFill>
                  <a:srgbClr val="64748B"/>
                </a:solidFill>
              </a:defRPr>
            </a:pPr>
            <a:r>
              <a:t>Catches PL/SQL ORA-20001 through ORA-20005 exceptions and displays clean, operator-friendly dialogs.</a:t>
            </a:r>
          </a:p>
          <a:p>
            <a:pPr>
              <a:spcBef>
                <a:spcPts val="800"/>
              </a:spcBef>
              <a:defRPr b="1" sz="1200">
                <a:solidFill>
                  <a:srgbClr val="0F172A"/>
                </a:solidFill>
              </a:defRPr>
            </a:pPr>
            <a:r>
              <a:t>• Modern UX Architecture</a:t>
            </a:r>
          </a:p>
          <a:p>
            <a:pPr>
              <a:defRPr sz="1100">
                <a:solidFill>
                  <a:srgbClr val="64748B"/>
                </a:solidFill>
              </a:defRPr>
            </a:pPr>
            <a:r>
              <a:t>Real-time client search (Ctrl+F), unified modals (X, Cancel, ESC), Dark/Light mode, and 1-click CSV exports.</a:t>
            </a:r>
          </a:p>
        </p:txBody>
      </p:sp>
      <p:sp>
        <p:nvSpPr>
          <p:cNvPr id="8" name="Rectangle 7"/>
          <p:cNvSpPr/>
          <p:nvPr/>
        </p:nvSpPr>
        <p:spPr>
          <a:xfrm>
            <a:off x="731520" y="621792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91072"/>
            <a:ext cx="9601200" cy="365760"/>
          </a:xfrm>
          <a:prstGeom prst="rect">
            <a:avLst/>
          </a:prstGeom>
          <a:noFill/>
        </p:spPr>
        <p:txBody>
          <a:bodyPr wrap="square" lIns="0" rIns="0" tIns="0" bIns="0">
            <a:spAutoFit/>
          </a:bodyPr>
          <a:lstStyle/>
          <a:p>
            <a:r>
              <a:rPr b="1" sz="1300">
                <a:solidFill>
                  <a:srgbClr val="0EA5E9"/>
                </a:solidFill>
                <a:latin typeface="Segoe UI"/>
              </a:rPr>
              <a:t>KEY TAKEAWAY: </a:t>
            </a:r>
            <a:r>
              <a:rPr b="0" sz="1300">
                <a:solidFill>
                  <a:srgbClr val="64748B"/>
                </a:solidFill>
                <a:latin typeface="Segoe UI"/>
              </a:rPr>
              <a:t>Role-based security protects enterprise data; non-blocking JavaFX guarantees zero UI freezes.</a:t>
            </a:r>
          </a:p>
        </p:txBody>
      </p:sp>
      <p:sp>
        <p:nvSpPr>
          <p:cNvPr id="10" name="TextBox 9"/>
          <p:cNvSpPr txBox="1"/>
          <p:nvPr/>
        </p:nvSpPr>
        <p:spPr>
          <a:xfrm>
            <a:off x="10515600" y="6291072"/>
            <a:ext cx="914400" cy="365760"/>
          </a:xfrm>
          <a:prstGeom prst="rect">
            <a:avLst/>
          </a:prstGeom>
          <a:noFill/>
        </p:spPr>
        <p:txBody>
          <a:bodyPr wrap="none" lIns="0" rIns="0" tIns="0" bIns="0">
            <a:spAutoFit/>
          </a:bodyPr>
          <a:lstStyle/>
          <a:p>
            <a:pPr algn="r">
              <a:defRPr b="1" sz="1300">
                <a:solidFill>
                  <a:srgbClr val="64748B"/>
                </a:solidFill>
                <a:latin typeface="Segoe UI"/>
              </a:defRPr>
            </a:pPr>
            <a:r>
              <a:t>6 / 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292608"/>
          </a:xfrm>
          <a:prstGeom prst="rect">
            <a:avLst/>
          </a:prstGeom>
          <a:noFill/>
        </p:spPr>
        <p:txBody>
          <a:bodyPr wrap="square" lIns="0" rIns="0" tIns="0" bIns="0">
            <a:spAutoFit/>
          </a:bodyPr>
          <a:lstStyle/>
          <a:p>
            <a:pPr>
              <a:defRPr sz="1100" b="1">
                <a:solidFill>
                  <a:srgbClr val="0EA5E9"/>
                </a:solidFill>
                <a:latin typeface="Segoe UI"/>
              </a:defRPr>
            </a:pPr>
            <a:r>
              <a:t>PROJECT VERIFICATION &amp; SUMMARY</a:t>
            </a:r>
          </a:p>
        </p:txBody>
      </p:sp>
      <p:sp>
        <p:nvSpPr>
          <p:cNvPr id="4" name="TextBox 3"/>
          <p:cNvSpPr txBox="1"/>
          <p:nvPr/>
        </p:nvSpPr>
        <p:spPr>
          <a:xfrm>
            <a:off x="731520" y="658368"/>
            <a:ext cx="10515600" cy="594360"/>
          </a:xfrm>
          <a:prstGeom prst="rect">
            <a:avLst/>
          </a:prstGeom>
          <a:noFill/>
        </p:spPr>
        <p:txBody>
          <a:bodyPr wrap="square" lIns="0" rIns="0" tIns="0" bIns="0">
            <a:spAutoFit/>
          </a:bodyPr>
          <a:lstStyle/>
          <a:p>
            <a:pPr>
              <a:defRPr sz="2800" b="1">
                <a:solidFill>
                  <a:srgbClr val="F1F5F9"/>
                </a:solidFill>
                <a:latin typeface="Segoe UI"/>
              </a:defRPr>
            </a:pPr>
            <a:r>
              <a:t>Validation, Results &amp; Future Horizons</a:t>
            </a:r>
          </a:p>
        </p:txBody>
      </p:sp>
      <p:sp>
        <p:nvSpPr>
          <p:cNvPr id="5" name="Rounded Rectangle 4"/>
          <p:cNvSpPr/>
          <p:nvPr/>
        </p:nvSpPr>
        <p:spPr>
          <a:xfrm>
            <a:off x="731520" y="1371600"/>
            <a:ext cx="5120640" cy="46177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defRPr b="1" sz="1300">
                <a:solidFill>
                  <a:srgbClr val="0EA5E9"/>
                </a:solidFill>
              </a:defRPr>
            </a:pPr>
            <a:r>
              <a:t>RIGOROUS SYSTEM VERIFICATION</a:t>
            </a:r>
          </a:p>
          <a:p>
            <a:pPr>
              <a:spcBef>
                <a:spcPts val="800"/>
              </a:spcBef>
              <a:defRPr b="1" sz="1200">
                <a:solidFill>
                  <a:srgbClr val="22C55E"/>
                </a:solidFill>
              </a:defRPr>
            </a:pPr>
            <a:r>
              <a:t>✔ Schema &amp; DDL Integrity</a:t>
            </a:r>
          </a:p>
          <a:p>
            <a:pPr>
              <a:defRPr sz="1100">
                <a:solidFill>
                  <a:srgbClr val="94A3B8"/>
                </a:solidFill>
              </a:defRPr>
            </a:pPr>
            <a:r>
              <a:t>Zero compilation errors across 17 tables, 6 views, 8 triggers, and PKG_BILLING package.</a:t>
            </a:r>
          </a:p>
          <a:p>
            <a:pPr>
              <a:spcBef>
                <a:spcPts val="800"/>
              </a:spcBef>
              <a:defRPr b="1" sz="1200">
                <a:solidFill>
                  <a:srgbClr val="22C55E"/>
                </a:solidFill>
              </a:defRPr>
            </a:pPr>
            <a:r>
              <a:t>✔ Concurrency Lock Testing</a:t>
            </a:r>
          </a:p>
          <a:p>
            <a:pPr>
              <a:defRPr sz="1100">
                <a:solidFill>
                  <a:srgbClr val="94A3B8"/>
                </a:solidFill>
              </a:defRPr>
            </a:pPr>
            <a:r>
              <a:t>Verified FOR UPDATE NOWAIT row lock under concurrent payment posts with zero race conditions or deadlocks.</a:t>
            </a:r>
          </a:p>
          <a:p>
            <a:pPr>
              <a:spcBef>
                <a:spcPts val="800"/>
              </a:spcBef>
              <a:defRPr b="1" sz="1200">
                <a:solidFill>
                  <a:srgbClr val="22C55E"/>
                </a:solidFill>
              </a:defRPr>
            </a:pPr>
            <a:r>
              <a:t>✔ Soft-Delete Referencing</a:t>
            </a:r>
          </a:p>
          <a:p>
            <a:pPr>
              <a:defRPr sz="1100">
                <a:solidFill>
                  <a:srgbClr val="94A3B8"/>
                </a:solidFill>
              </a:defRPr>
            </a:pPr>
            <a:r>
              <a:t>Verified subscriber deactivations preserve referential integrity across historical invoices and payments.</a:t>
            </a:r>
          </a:p>
          <a:p>
            <a:pPr>
              <a:spcBef>
                <a:spcPts val="800"/>
              </a:spcBef>
              <a:defRPr b="1" sz="1200">
                <a:solidFill>
                  <a:srgbClr val="22C55E"/>
                </a:solidFill>
              </a:defRPr>
            </a:pPr>
            <a:r>
              <a:t>✔ High-Volume Seed Dataset</a:t>
            </a:r>
          </a:p>
          <a:p>
            <a:pPr>
              <a:defRPr sz="1100">
                <a:solidFill>
                  <a:srgbClr val="94A3B8"/>
                </a:solidFill>
              </a:defRPr>
            </a:pPr>
            <a:r>
              <a:t>Loaded 20+ complete seed customer profiles with multi-criteria real-time querying and CSV exports.</a:t>
            </a:r>
          </a:p>
        </p:txBody>
      </p:sp>
      <p:sp>
        <p:nvSpPr>
          <p:cNvPr id="6" name="Rounded Rectangle 5"/>
          <p:cNvSpPr/>
          <p:nvPr/>
        </p:nvSpPr>
        <p:spPr>
          <a:xfrm>
            <a:off x="6217920" y="1371600"/>
            <a:ext cx="5212080" cy="46177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a:lstStyle/>
          <a:p>
            <a:pPr algn="ctr">
              <a:defRPr b="1" sz="1300">
                <a:solidFill>
                  <a:srgbClr val="0EA5E9"/>
                </a:solidFill>
              </a:defRPr>
            </a:pPr>
            <a:r>
              <a:t>FUTURE ENHANCEMENTS &amp; ROADMAP</a:t>
            </a:r>
          </a:p>
          <a:p>
            <a:pPr>
              <a:spcBef>
                <a:spcPts val="800"/>
              </a:spcBef>
              <a:defRPr b="1" sz="1200">
                <a:solidFill>
                  <a:srgbClr val="F1F5F9"/>
                </a:solidFill>
              </a:defRPr>
            </a:pPr>
            <a:r>
              <a:t>1. Self-Service Customer Portal</a:t>
            </a:r>
          </a:p>
          <a:p>
            <a:pPr>
              <a:defRPr sz="1100">
                <a:solidFill>
                  <a:srgbClr val="94A3B8"/>
                </a:solidFill>
              </a:defRPr>
            </a:pPr>
            <a:r>
              <a:t>Web-based portal for subscribers to monitor real-time data caps, download PDF bills, and pay via UPI.</a:t>
            </a:r>
          </a:p>
          <a:p>
            <a:pPr>
              <a:spcBef>
                <a:spcPts val="800"/>
              </a:spcBef>
              <a:defRPr b="1" sz="1200">
                <a:solidFill>
                  <a:srgbClr val="F1F5F9"/>
                </a:solidFill>
              </a:defRPr>
            </a:pPr>
            <a:r>
              <a:t>2. Automated SNMP Network Monitoring</a:t>
            </a:r>
          </a:p>
          <a:p>
            <a:pPr>
              <a:defRPr sz="1100">
                <a:solidFill>
                  <a:srgbClr val="94A3B8"/>
                </a:solidFill>
              </a:defRPr>
            </a:pPr>
            <a:r>
              <a:t>Automated network trap listeners logging grid faults directly to NETWORK_OUTAGE.</a:t>
            </a:r>
          </a:p>
          <a:p>
            <a:pPr>
              <a:spcBef>
                <a:spcPts val="800"/>
              </a:spcBef>
              <a:defRPr b="1" sz="1200">
                <a:solidFill>
                  <a:srgbClr val="F1F5F9"/>
                </a:solidFill>
              </a:defRPr>
            </a:pPr>
            <a:r>
              <a:t>3. Payment Gateway Webhooks</a:t>
            </a:r>
          </a:p>
          <a:p>
            <a:pPr>
              <a:defRPr sz="1100">
                <a:solidFill>
                  <a:srgbClr val="94A3B8"/>
                </a:solidFill>
              </a:defRPr>
            </a:pPr>
            <a:r>
              <a:t>Live Razorpay and Stripe API integration calling sp_record_payment in real-time.</a:t>
            </a:r>
          </a:p>
        </p:txBody>
      </p:sp>
      <p:sp>
        <p:nvSpPr>
          <p:cNvPr id="7" name="Rounded Rectangle 6"/>
          <p:cNvSpPr/>
          <p:nvPr/>
        </p:nvSpPr>
        <p:spPr>
          <a:xfrm>
            <a:off x="6446520" y="4480560"/>
            <a:ext cx="4754880" cy="1280160"/>
          </a:xfrm>
          <a:prstGeom prst="roundRect">
            <a:avLst/>
          </a:prstGeom>
          <a:solidFill>
            <a:srgbClr val="0F172A"/>
          </a:solidFill>
          <a:ln w="1905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wrap="square" lIns="164592" tIns="164592"/>
          <a:lstStyle/>
          <a:p>
            <a:pPr algn="ctr">
              <a:defRPr b="1" sz="1800">
                <a:solidFill>
                  <a:srgbClr val="0EA5E9"/>
                </a:solidFill>
              </a:defRPr>
            </a:pPr>
            <a:r>
              <a:t>THANK YOU!</a:t>
            </a:r>
          </a:p>
          <a:p>
            <a:pPr algn="ctr">
              <a:defRPr sz="1300">
                <a:solidFill>
                  <a:srgbClr val="94A3B8"/>
                </a:solidFill>
              </a:defRPr>
            </a:pPr>
            <a:r>
              <a:t>Questions &amp; Discussion are welcome.</a:t>
            </a:r>
          </a:p>
        </p:txBody>
      </p:sp>
      <p:sp>
        <p:nvSpPr>
          <p:cNvPr id="8" name="Rectangle 7"/>
          <p:cNvSpPr/>
          <p:nvPr/>
        </p:nvSpPr>
        <p:spPr>
          <a:xfrm>
            <a:off x="731520" y="6217920"/>
            <a:ext cx="10728655"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91072"/>
            <a:ext cx="9601200" cy="365760"/>
          </a:xfrm>
          <a:prstGeom prst="rect">
            <a:avLst/>
          </a:prstGeom>
          <a:noFill/>
        </p:spPr>
        <p:txBody>
          <a:bodyPr wrap="square" lIns="0" rIns="0" tIns="0" bIns="0">
            <a:spAutoFit/>
          </a:bodyPr>
          <a:lstStyle/>
          <a:p>
            <a:r>
              <a:rPr b="1" sz="1300">
                <a:solidFill>
                  <a:srgbClr val="0EA5E9"/>
                </a:solidFill>
                <a:latin typeface="Segoe UI"/>
              </a:rPr>
              <a:t>KEY TAKEAWAY: </a:t>
            </a:r>
            <a:r>
              <a:rPr b="0" sz="1300">
                <a:solidFill>
                  <a:srgbClr val="94A3B8"/>
                </a:solidFill>
                <a:latin typeface="Segoe UI"/>
              </a:rPr>
              <a:t>Proves that robust enterprise database architecture ensures bulletproof software applications.</a:t>
            </a:r>
          </a:p>
        </p:txBody>
      </p:sp>
      <p:sp>
        <p:nvSpPr>
          <p:cNvPr id="10" name="TextBox 9"/>
          <p:cNvSpPr txBox="1"/>
          <p:nvPr/>
        </p:nvSpPr>
        <p:spPr>
          <a:xfrm>
            <a:off x="10515600" y="6291072"/>
            <a:ext cx="914400" cy="365760"/>
          </a:xfrm>
          <a:prstGeom prst="rect">
            <a:avLst/>
          </a:prstGeom>
          <a:noFill/>
        </p:spPr>
        <p:txBody>
          <a:bodyPr wrap="none" lIns="0" rIns="0" tIns="0" bIns="0">
            <a:spAutoFit/>
          </a:bodyPr>
          <a:lstStyle/>
          <a:p>
            <a:pPr algn="r">
              <a:defRPr b="1" sz="1300">
                <a:solidFill>
                  <a:srgbClr val="94A3B8"/>
                </a:solidFill>
                <a:latin typeface="Segoe UI"/>
              </a:defRPr>
            </a:pPr>
            <a:r>
              <a:t>7 / 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